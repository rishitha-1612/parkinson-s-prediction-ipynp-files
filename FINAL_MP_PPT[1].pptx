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559" r:id="rId2"/>
    <p:sldId id="257" r:id="rId3"/>
    <p:sldId id="560" r:id="rId4"/>
    <p:sldId id="561" r:id="rId5"/>
    <p:sldId id="562" r:id="rId6"/>
    <p:sldId id="564" r:id="rId7"/>
    <p:sldId id="566" r:id="rId8"/>
    <p:sldId id="567" r:id="rId9"/>
    <p:sldId id="568" r:id="rId10"/>
    <p:sldId id="569" r:id="rId11"/>
    <p:sldId id="570" r:id="rId12"/>
    <p:sldId id="584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1" r:id="rId22"/>
    <p:sldId id="580" r:id="rId23"/>
    <p:sldId id="582" r:id="rId24"/>
    <p:sldId id="583" r:id="rId25"/>
    <p:sldId id="565" r:id="rId26"/>
    <p:sldId id="563" r:id="rId27"/>
    <p:sldId id="263" r:id="rId28"/>
  </p:sldIdLst>
  <p:sldSz cx="9144000" cy="6858000" type="screen4x3"/>
  <p:notesSz cx="7010400" cy="9296400"/>
  <p:embeddedFontLs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63" roundtripDataSignature="AMtx7mgtpVR0efpXsYw/YFNiXHcO2TZr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CB15"/>
    <a:srgbClr val="1EABDA"/>
    <a:srgbClr val="92BD39"/>
    <a:srgbClr val="3CC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5D57E-E838-47B3-B180-15821EAF4C25}" v="1" dt="2025-11-21T09:07:38.062"/>
  </p1510:revLst>
</p1510:revInfo>
</file>

<file path=ppt/tableStyles.xml><?xml version="1.0" encoding="utf-8"?>
<a:tblStyleLst xmlns:a="http://schemas.openxmlformats.org/drawingml/2006/main" def="{C2CB93E1-9EAC-49F2-A970-9903F78E92AF}">
  <a:tblStyle styleId="{C2CB93E1-9EAC-49F2-A970-9903F78E92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16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6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164" Type="http://schemas.openxmlformats.org/officeDocument/2006/relationships/presProps" Target="presProps.xml"/><Relationship Id="rId16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168" Type="http://schemas.microsoft.com/office/2016/11/relationships/changesInfo" Target="changesInfos/changesInfo1.xml"/><Relationship Id="rId8" Type="http://schemas.openxmlformats.org/officeDocument/2006/relationships/slide" Target="slides/slide7.xml"/><Relationship Id="rId163" Type="http://customschemas.google.com/relationships/presentationmetadata" Target="metadata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harasineni@outlook.com" userId="48beb4a0b3761896" providerId="LiveId" clId="{90E0E8FE-1555-4475-899E-D1C29674C7D5}"/>
    <pc:docChg chg="modSld">
      <pc:chgData name="rishitharasineni@outlook.com" userId="48beb4a0b3761896" providerId="LiveId" clId="{90E0E8FE-1555-4475-899E-D1C29674C7D5}" dt="2025-11-21T09:07:38.054" v="22" actId="1036"/>
      <pc:docMkLst>
        <pc:docMk/>
      </pc:docMkLst>
      <pc:sldChg chg="modSp mod">
        <pc:chgData name="rishitharasineni@outlook.com" userId="48beb4a0b3761896" providerId="LiveId" clId="{90E0E8FE-1555-4475-899E-D1C29674C7D5}" dt="2025-11-21T07:21:05.292" v="21" actId="20577"/>
        <pc:sldMkLst>
          <pc:docMk/>
          <pc:sldMk cId="3164032965" sldId="560"/>
        </pc:sldMkLst>
        <pc:spChg chg="mod">
          <ac:chgData name="rishitharasineni@outlook.com" userId="48beb4a0b3761896" providerId="LiveId" clId="{90E0E8FE-1555-4475-899E-D1C29674C7D5}" dt="2025-11-21T07:21:05.292" v="21" actId="20577"/>
          <ac:spMkLst>
            <pc:docMk/>
            <pc:sldMk cId="3164032965" sldId="560"/>
            <ac:spMk id="2" creationId="{6CFA05E3-CC42-1506-8D9B-B3638E240E73}"/>
          </ac:spMkLst>
        </pc:spChg>
      </pc:sldChg>
      <pc:sldChg chg="modSp">
        <pc:chgData name="rishitharasineni@outlook.com" userId="48beb4a0b3761896" providerId="LiveId" clId="{90E0E8FE-1555-4475-899E-D1C29674C7D5}" dt="2025-11-21T09:07:38.054" v="22" actId="1036"/>
        <pc:sldMkLst>
          <pc:docMk/>
          <pc:sldMk cId="2222024262" sldId="584"/>
        </pc:sldMkLst>
        <pc:picChg chg="mod">
          <ac:chgData name="rishitharasineni@outlook.com" userId="48beb4a0b3761896" providerId="LiveId" clId="{90E0E8FE-1555-4475-899E-D1C29674C7D5}" dt="2025-11-21T09:07:38.054" v="22" actId="1036"/>
          <ac:picMkLst>
            <pc:docMk/>
            <pc:sldMk cId="2222024262" sldId="584"/>
            <ac:picMk id="2054" creationId="{0BABBEB1-31A7-7029-D48E-A39714B727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3919" y="1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5700" y="708025"/>
            <a:ext cx="4725988" cy="3544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4286" y="4490032"/>
            <a:ext cx="5627793" cy="425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3919" y="8976837"/>
            <a:ext cx="3049199" cy="472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181" tIns="47078" rIns="94181" bIns="4707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200" smtClean="0">
                <a:latin typeface="Times New Roman"/>
                <a:ea typeface="Times New Roman"/>
                <a:cs typeface="Times New Roman"/>
                <a:sym typeface="Times New Roman"/>
              </a:rPr>
              <a:pPr algn="r">
                <a:buSzPts val="1200"/>
              </a:pPr>
              <a:t>‹#›</a:t>
            </a:fld>
            <a:endParaRPr lang="en-US" sz="18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8e6671419f8a2a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8e6671419f8a2a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78e6671419f8a2a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1"/>
          <p:cNvSpPr txBox="1">
            <a:spLocks noGrp="1"/>
          </p:cNvSpPr>
          <p:nvPr>
            <p:ph type="title"/>
          </p:nvPr>
        </p:nvSpPr>
        <p:spPr>
          <a:xfrm>
            <a:off x="685802" y="609600"/>
            <a:ext cx="7770813" cy="114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3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143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14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144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14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14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46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146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14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4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7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8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58" name="Google Shape;58;p148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4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0"/>
          <p:cNvSpPr txBox="1">
            <a:spLocks noGrp="1"/>
          </p:cNvSpPr>
          <p:nvPr>
            <p:ph type="ctrTitle"/>
          </p:nvPr>
        </p:nvSpPr>
        <p:spPr>
          <a:xfrm>
            <a:off x="3609212" y="2875889"/>
            <a:ext cx="1925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0"/>
          <p:cNvSpPr txBox="1">
            <a:spLocks noGrp="1"/>
          </p:cNvSpPr>
          <p:nvPr>
            <p:ph type="subTitle" idx="1"/>
          </p:nvPr>
        </p:nvSpPr>
        <p:spPr>
          <a:xfrm>
            <a:off x="1357629" y="3906452"/>
            <a:ext cx="642874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700" b="1" i="0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5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12700" marR="0" lvl="0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marR="0" lvl="1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marR="0" lvl="2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marR="0" lvl="3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marR="0" lvl="4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marR="0" lvl="5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marR="0" lvl="6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marR="0" lvl="7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marR="0" lvl="8" indent="0" algn="r">
              <a:lnSpc>
                <a:spcPct val="117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e7d39ed9c0_0_4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7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5"/>
          <p:cNvSpPr txBox="1">
            <a:spLocks noGrp="1"/>
          </p:cNvSpPr>
          <p:nvPr>
            <p:ph type="title"/>
          </p:nvPr>
        </p:nvSpPr>
        <p:spPr>
          <a:xfrm>
            <a:off x="391725" y="1035333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5"/>
          <p:cNvSpPr txBox="1">
            <a:spLocks noGrp="1"/>
          </p:cNvSpPr>
          <p:nvPr>
            <p:ph type="body" idx="1"/>
          </p:nvPr>
        </p:nvSpPr>
        <p:spPr>
          <a:xfrm>
            <a:off x="311700" y="2009067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2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16001" y="288000"/>
            <a:ext cx="2255043" cy="86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1" r:id="rId8"/>
    <p:sldLayoutId id="214748367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573525" y="1091100"/>
            <a:ext cx="7996950" cy="99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SzPts val="20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Institute of Technology and Management</a:t>
            </a:r>
          </a:p>
          <a:p>
            <a:pPr algn="ctr">
              <a:buSzPts val="2000"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 dirty="0">
              <a:solidFill>
                <a:schemeClr val="dk1"/>
              </a:solidFill>
            </a:endParaRPr>
          </a:p>
          <a:p>
            <a:pPr algn="ctr">
              <a:buSzPts val="1600"/>
            </a:pP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 Nagar, </a:t>
            </a:r>
            <a:r>
              <a:rPr lang="en-GB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</a:t>
            </a:r>
            <a:r>
              <a:rPr lang="en-GB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Bengaluru - 560076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2031131" y="3274370"/>
            <a:ext cx="5441625" cy="108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</a:rPr>
              <a:t> </a:t>
            </a:r>
            <a:r>
              <a:rPr lang="en-GB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2025 – 2026 Odd (5th) semester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(</a:t>
            </a:r>
            <a:r>
              <a:rPr lang="en-IN" sz="2400"/>
              <a:t>BCS586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Review II Presentation</a:t>
            </a:r>
            <a:endParaRPr sz="1050"/>
          </a:p>
        </p:txBody>
      </p:sp>
      <p:sp>
        <p:nvSpPr>
          <p:cNvPr id="61" name="Google Shape;61;p1"/>
          <p:cNvSpPr/>
          <p:nvPr/>
        </p:nvSpPr>
        <p:spPr>
          <a:xfrm>
            <a:off x="1483144" y="4556625"/>
            <a:ext cx="3268800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1350" b="1" i="1"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lang="en-GB" sz="135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err="1">
                <a:latin typeface="Times New Roman"/>
                <a:ea typeface="Times New Roman"/>
                <a:cs typeface="Times New Roman"/>
                <a:sym typeface="Times New Roman"/>
              </a:rPr>
              <a:t>Aishwarya.R</a:t>
            </a: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- 1RF23CS011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M.N Monisha - 1RF23CS087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Rishitha </a:t>
            </a:r>
            <a:r>
              <a:rPr lang="en-GB" sz="1350" err="1">
                <a:latin typeface="Times New Roman"/>
                <a:ea typeface="Times New Roman"/>
                <a:cs typeface="Times New Roman"/>
                <a:sym typeface="Times New Roman"/>
              </a:rPr>
              <a:t>Rasineni</a:t>
            </a: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- 1RF23CS131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Sowmya P.R- 1RF23CS166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141813" y="4588800"/>
            <a:ext cx="2428425" cy="9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1350" i="1"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sz="135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 err="1">
                <a:latin typeface="Times New Roman"/>
                <a:cs typeface="Times New Roman"/>
              </a:rPr>
              <a:t>Dr.Hema</a:t>
            </a:r>
            <a:r>
              <a:rPr lang="en-GB" sz="1350">
                <a:latin typeface="Times New Roman"/>
                <a:cs typeface="Times New Roman"/>
              </a:rPr>
              <a:t> M.S</a:t>
            </a:r>
          </a:p>
          <a:p>
            <a:pPr algn="ctr">
              <a:lnSpc>
                <a:spcPct val="90000"/>
              </a:lnSpc>
            </a:pPr>
            <a:r>
              <a:rPr lang="en-GB" sz="1350" err="1">
                <a:latin typeface="Times New Roman"/>
                <a:ea typeface="Times New Roman"/>
                <a:cs typeface="Times New Roman"/>
              </a:rPr>
              <a:t>Professor,Head</a:t>
            </a:r>
            <a:br>
              <a:rPr lang="en-GB" sz="1350">
                <a:latin typeface="Times New Roman"/>
                <a:ea typeface="Times New Roman"/>
                <a:cs typeface="Times New Roman"/>
              </a:rPr>
            </a:b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Dept. of CS&amp;E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350">
                <a:latin typeface="Times New Roman"/>
                <a:ea typeface="Times New Roman"/>
                <a:cs typeface="Times New Roman"/>
                <a:sym typeface="Times New Roman"/>
              </a:rPr>
              <a:t>RVITM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1F11A-1EB4-F18C-8AB5-7173487B814A}"/>
              </a:ext>
            </a:extLst>
          </p:cNvPr>
          <p:cNvSpPr txBox="1"/>
          <p:nvPr/>
        </p:nvSpPr>
        <p:spPr>
          <a:xfrm>
            <a:off x="679622" y="2347784"/>
            <a:ext cx="81348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Calibri"/>
              </a:rPr>
              <a:t>"Voice‑Based Classification Of Parkinson's Disease Using Supervised Machine Learning"</a:t>
            </a:r>
            <a:endParaRPr lang="en-US" sz="2000" b="1">
              <a:latin typeface="Times New Roman"/>
            </a:endParaRPr>
          </a:p>
          <a:p>
            <a:pPr algn="ctr"/>
            <a:endParaRPr lang="en-US" b="1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8e6671419f8a2a0_22"/>
          <p:cNvSpPr txBox="1"/>
          <p:nvPr/>
        </p:nvSpPr>
        <p:spPr>
          <a:xfrm>
            <a:off x="628650" y="515816"/>
            <a:ext cx="7886700" cy="890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Google Shape;69;g78e6671419f8a2a0_22"/>
          <p:cNvSpPr txBox="1"/>
          <p:nvPr/>
        </p:nvSpPr>
        <p:spPr>
          <a:xfrm>
            <a:off x="893884" y="1324708"/>
            <a:ext cx="7886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3086100" lvl="8" indent="-257175">
              <a:lnSpc>
                <a:spcPct val="90000"/>
              </a:lnSpc>
              <a:spcBef>
                <a:spcPts val="375"/>
              </a:spcBef>
            </a:pPr>
            <a:r>
              <a:rPr lang="en-GB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</a:t>
            </a:r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Abstract</a:t>
            </a:r>
            <a:endParaRPr lang="en-IN" sz="180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Introduction</a:t>
            </a:r>
            <a:endParaRPr lang="en-IN" sz="180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Objectives and Problem Statement</a:t>
            </a:r>
            <a:endParaRPr lang="en-IN" sz="1800">
              <a:solidFill>
                <a:srgbClr val="595959"/>
              </a:solidFill>
            </a:endParaRP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Proposed Model  - Methodology ( Architecture diagram)</a:t>
            </a: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Implementation Details (Algorithm)</a:t>
            </a: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Results </a:t>
            </a: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Conclusion</a:t>
            </a:r>
          </a:p>
          <a:p>
            <a:pPr marL="457200" lvl="0" indent="-342900">
              <a:lnSpc>
                <a:spcPct val="90000"/>
              </a:lnSpc>
              <a:spcBef>
                <a:spcPts val="1000"/>
              </a:spcBef>
              <a:buSzPts val="1800"/>
              <a:buFont typeface="Arial"/>
              <a:buChar char="•"/>
            </a:pPr>
            <a:r>
              <a:rPr lang="en-US" sz="1800">
                <a:solidFill>
                  <a:srgbClr val="595959"/>
                </a:solidFill>
              </a:rPr>
              <a:t>References</a:t>
            </a:r>
            <a:endParaRPr sz="1800" b="1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A05E3-CC42-1506-8D9B-B3638E240E73}"/>
              </a:ext>
            </a:extLst>
          </p:cNvPr>
          <p:cNvSpPr txBox="1"/>
          <p:nvPr/>
        </p:nvSpPr>
        <p:spPr>
          <a:xfrm>
            <a:off x="885991" y="1969605"/>
            <a:ext cx="7383161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This project proposes a machine learning–based diagnostic tool for Parkinson’s Disease using voice recordings.</a:t>
            </a:r>
          </a:p>
          <a:p>
            <a:pPr marL="228600" indent="-228600">
              <a:buFont typeface=""/>
              <a:buChar char="•"/>
            </a:pPr>
            <a:endParaRPr lang="en-US"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It extracts 22 acoustic features—including fundamental frequency (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MDVP:Fo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Fhi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Flo), jitter variants (local, absolute, RAP, PPQ, DDP), shimmer variants (local, dB, APQ3, APQ5, APQ11, DDA), HNR, and NHR—directly from live or uploaded audio via the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parselmouth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Praat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-Python) interface</a:t>
            </a:r>
          </a:p>
          <a:p>
            <a:pPr marL="228600" indent="-228600">
              <a:buFont typeface=""/>
              <a:buChar char="•"/>
            </a:pPr>
            <a:endParaRPr lang="en-US" sz="1800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Features are scaled with user-selected preprocessors (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StandardScaler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MinMaxScaler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RobustScaler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etc.) and fed into any of </a:t>
            </a: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11</a:t>
            </a:r>
            <a:r>
              <a:rPr lang="en-US" sz="1800" i="0" u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 supervised  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classifiers (Gradient Boosting,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XGBoost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, Random Forest, SVM, etc.) trained with </a:t>
            </a:r>
            <a:r>
              <a:rPr lang="en-US" sz="1800" i="0" u="none" strike="noStrike" dirty="0" err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GridSearchCV</a:t>
            </a:r>
            <a:r>
              <a:rPr lang="en-US" sz="1800" i="0" u="none" strike="noStrike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 and SMOTE-balanced data to avoid leakage</a:t>
            </a:r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BDE88-88E4-B8C7-A065-32CC2C292A62}"/>
              </a:ext>
            </a:extLst>
          </p:cNvPr>
          <p:cNvSpPr txBox="1"/>
          <p:nvPr/>
        </p:nvSpPr>
        <p:spPr>
          <a:xfrm>
            <a:off x="2286000" y="1085166"/>
            <a:ext cx="457200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100" b="1">
                <a:latin typeface="Times New Roman"/>
                <a:cs typeface="Times New Roman"/>
              </a:rPr>
              <a:t>ABSTRACT</a:t>
            </a:r>
            <a:endParaRPr lang="en-US" sz="1800">
              <a:solidFill>
                <a:srgbClr val="595959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3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EAE977-A411-73E5-D9B4-C795E301CE06}"/>
              </a:ext>
            </a:extLst>
          </p:cNvPr>
          <p:cNvSpPr txBox="1"/>
          <p:nvPr/>
        </p:nvSpPr>
        <p:spPr>
          <a:xfrm>
            <a:off x="2080054" y="1122405"/>
            <a:ext cx="4572000" cy="8463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GB" sz="2100" b="1">
                <a:latin typeface="Times New Roman"/>
                <a:ea typeface="Segoe UI"/>
                <a:cs typeface="Segoe UI"/>
              </a:rPr>
              <a:t>INTRODUCTION</a:t>
            </a:r>
            <a:r>
              <a:rPr lang="en-US" sz="21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400" b="0" i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0E698-AD00-2A42-EFCD-853772FC7CCC}"/>
              </a:ext>
            </a:extLst>
          </p:cNvPr>
          <p:cNvSpPr txBox="1"/>
          <p:nvPr/>
        </p:nvSpPr>
        <p:spPr>
          <a:xfrm>
            <a:off x="926757" y="2265405"/>
            <a:ext cx="7208106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Parkinson’s Disease (PD) is a progressive neurological disorder that affects movement and speech, leading to difficulties in communication and mobility.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Early diagnosis is vital for proper management, yet traditional clinical methods often rely on subjective evaluations and are prone to human error.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This project presents a voice-based machine learning model that analyzes speech patterns to detect early symptoms of Parkinson’s.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cs typeface="Times New Roman"/>
              </a:rPr>
              <a:t>This integration provides a non-invasive, cost-effective, and accessible diagnostic solution suitable for clinical and remote healthcare use.</a:t>
            </a:r>
            <a:br>
              <a:rPr lang="en-US" sz="1800">
                <a:latin typeface="Times New Roman"/>
                <a:cs typeface="Times New Roman"/>
              </a:rPr>
            </a:br>
            <a:br>
              <a:rPr lang="en-US">
                <a:solidFill>
                  <a:srgbClr val="1F1F1F"/>
                </a:solidFill>
                <a:latin typeface="Times New Roman"/>
                <a:cs typeface="Times New Roman"/>
              </a:rPr>
            </a:br>
            <a:endParaRPr lang="en-US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3735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CA37FA-CDEC-E281-4C6D-71B0CDB28AA5}"/>
              </a:ext>
            </a:extLst>
          </p:cNvPr>
          <p:cNvSpPr txBox="1"/>
          <p:nvPr/>
        </p:nvSpPr>
        <p:spPr>
          <a:xfrm>
            <a:off x="195648" y="1318054"/>
            <a:ext cx="8732109" cy="10259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725"/>
              </a:lnSpc>
            </a:pPr>
            <a:r>
              <a:rPr lang="en-US" sz="2100" b="1" baseline="0">
                <a:latin typeface="Times New Roman"/>
                <a:ea typeface="Segoe UI"/>
                <a:cs typeface="Segoe UI"/>
              </a:rPr>
              <a:t>​</a:t>
            </a:r>
            <a:r>
              <a:rPr lang="en-US" sz="2100" b="1">
                <a:latin typeface="Times New Roman"/>
                <a:ea typeface="Segoe UI"/>
                <a:cs typeface="Segoe UI"/>
              </a:rPr>
              <a:t>​OBJECTIVES AND PROBLEM STATEMENT</a:t>
            </a:r>
          </a:p>
          <a:p>
            <a:pPr algn="ctr">
              <a:lnSpc>
                <a:spcPts val="1725"/>
              </a:lnSpc>
            </a:pPr>
            <a:endParaRPr lang="en-US" sz="2100">
              <a:latin typeface="Times New Roman"/>
              <a:ea typeface="Segoe UI"/>
              <a:cs typeface="Segoe UI"/>
            </a:endParaRPr>
          </a:p>
          <a:p>
            <a:pPr algn="ctr" rtl="0">
              <a:lnSpc>
                <a:spcPts val="1125"/>
              </a:lnSpc>
            </a:pPr>
            <a:r>
              <a:rPr lang="en-US" sz="1400" baseline="0">
                <a:latin typeface="Arial"/>
                <a:ea typeface="Segoe UI"/>
                <a:cs typeface="Segoe UI"/>
              </a:rPr>
              <a:t>​</a:t>
            </a:r>
            <a:r>
              <a:rPr lang="en-US" sz="1400">
                <a:latin typeface="Arial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125"/>
              </a:lnSpc>
            </a:pPr>
            <a:r>
              <a:rPr lang="en-US" sz="1400"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41172-C444-F48A-B249-4FE5C30D9E7C}"/>
              </a:ext>
            </a:extLst>
          </p:cNvPr>
          <p:cNvSpPr txBox="1"/>
          <p:nvPr/>
        </p:nvSpPr>
        <p:spPr>
          <a:xfrm>
            <a:off x="875271" y="2347784"/>
            <a:ext cx="7393458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To develop a supervised machine learning model for classifying Parkinson’s Disease using frequency and speech signal features.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To extract and analyze essential voice parameters such as jitter, shimmer, and pitch variations from live or uploaded audio.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To benchmark multiple algorithms and preprocessing techniques to determine the most reliable diagnostic model.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800">
                <a:solidFill>
                  <a:srgbClr val="1F1F1F"/>
                </a:solidFill>
                <a:latin typeface="Times New Roman"/>
                <a:cs typeface="Times New Roman"/>
              </a:rPr>
              <a:t>To create a non-invasive, scalable diagnostic tool that assists in early Parkinson’s detection and remote monitoring.</a:t>
            </a:r>
          </a:p>
          <a:p>
            <a:pPr marL="228600" indent="-228600">
              <a:buFont typeface=""/>
              <a:buChar char="•"/>
            </a:pPr>
            <a:endParaRPr lang="en-US" sz="18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>
              <a:buFont typeface=""/>
            </a:pPr>
            <a:endParaRPr lang="en-US" sz="1800">
              <a:solidFill>
                <a:srgbClr val="1F1F1F"/>
              </a:solidFill>
              <a:latin typeface="Times New Roman"/>
              <a:cs typeface="Times New Roman"/>
            </a:endParaRPr>
          </a:p>
          <a:p>
            <a:pPr algn="ctr"/>
            <a:br>
              <a:rPr lang="en-US">
                <a:solidFill>
                  <a:srgbClr val="1F1F1F"/>
                </a:solidFill>
                <a:latin typeface="Times New Roman"/>
                <a:cs typeface="Times New Roman"/>
              </a:rPr>
            </a:br>
            <a:endParaRPr lang="en-US">
              <a:solidFill>
                <a:srgbClr val="1F1F1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905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machine learning process&#10;&#10;AI-generated content may be incorrect.">
            <a:extLst>
              <a:ext uri="{FF2B5EF4-FFF2-40B4-BE49-F238E27FC236}">
                <a16:creationId xmlns:a16="http://schemas.microsoft.com/office/drawing/2014/main" id="{B2EC7A22-21A2-DEC2-EBEA-A98A10FFB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1" y="1235745"/>
            <a:ext cx="8742406" cy="4808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7AAB65-DBA7-4D8B-94B0-8827D905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781" y="156778"/>
            <a:ext cx="5771222" cy="507055"/>
          </a:xfrm>
        </p:spPr>
        <p:txBody>
          <a:bodyPr>
            <a:normAutofit/>
          </a:bodyPr>
          <a:lstStyle/>
          <a:p>
            <a:r>
              <a:rPr lang="en-US" sz="1800"/>
              <a:t>METHODOLOGY </a:t>
            </a:r>
          </a:p>
        </p:txBody>
      </p:sp>
    </p:spTree>
    <p:extLst>
      <p:ext uri="{BB962C8B-B14F-4D97-AF65-F5344CB8AC3E}">
        <p14:creationId xmlns:p14="http://schemas.microsoft.com/office/powerpoint/2010/main" val="142012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0E7B-24F7-E7C4-DA48-0BC6B1AF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376" y="184746"/>
            <a:ext cx="2808000" cy="10076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52A7A-ECB3-36E2-9FB5-D5CDA23B7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36" y="1451206"/>
            <a:ext cx="2766811" cy="4239200"/>
          </a:xfrm>
        </p:spPr>
        <p:txBody>
          <a:bodyPr>
            <a:normAutofit/>
          </a:bodyPr>
          <a:lstStyle/>
          <a:p>
            <a:endParaRPr lang="en-US" b="1">
              <a:solidFill>
                <a:srgbClr val="000000"/>
              </a:solidFill>
            </a:endParaRPr>
          </a:p>
          <a:p>
            <a:pPr>
              <a:lnSpc>
                <a:spcPct val="114999"/>
              </a:lnSpc>
            </a:pPr>
            <a:r>
              <a:rPr lang="en-US">
                <a:solidFill>
                  <a:srgbClr val="000000"/>
                </a:solidFill>
              </a:rPr>
              <a:t>The system follows a </a:t>
            </a:r>
            <a:r>
              <a:rPr lang="en-US" b="1">
                <a:solidFill>
                  <a:srgbClr val="000000"/>
                </a:solidFill>
              </a:rPr>
              <a:t>two-phase machine learning pipeline</a:t>
            </a:r>
            <a:r>
              <a:rPr lang="en-US">
                <a:solidFill>
                  <a:srgbClr val="000000"/>
                </a:solidFill>
              </a:rPr>
              <a:t> consisting of:</a:t>
            </a:r>
          </a:p>
          <a:p>
            <a:pPr lvl="1">
              <a:lnSpc>
                <a:spcPct val="114999"/>
              </a:lnSpc>
            </a:pPr>
            <a:r>
              <a:rPr lang="en-US" b="1">
                <a:solidFill>
                  <a:srgbClr val="000000"/>
                </a:solidFill>
              </a:rPr>
              <a:t>Training Phase:</a:t>
            </a:r>
            <a:r>
              <a:rPr lang="en-US">
                <a:solidFill>
                  <a:srgbClr val="000000"/>
                </a:solidFill>
              </a:rPr>
              <a:t> Building, tuning, and validating ML models using structured voice datasets.</a:t>
            </a:r>
          </a:p>
          <a:p>
            <a:pPr lvl="1">
              <a:lnSpc>
                <a:spcPct val="114999"/>
              </a:lnSpc>
            </a:pPr>
            <a:r>
              <a:rPr lang="en-US" b="1">
                <a:solidFill>
                  <a:srgbClr val="000000"/>
                </a:solidFill>
              </a:rPr>
              <a:t>Prediction Phase:</a:t>
            </a:r>
            <a:r>
              <a:rPr lang="en-US">
                <a:solidFill>
                  <a:srgbClr val="000000"/>
                </a:solidFill>
              </a:rPr>
              <a:t> Real-time voice recording, feature extraction, and PD risk classification.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rgbClr val="000000"/>
                </a:solidFill>
              </a:rPr>
              <a:t>This structured workflow ensures </a:t>
            </a:r>
            <a:r>
              <a:rPr lang="en-US" b="1">
                <a:solidFill>
                  <a:srgbClr val="000000"/>
                </a:solidFill>
              </a:rPr>
              <a:t>high accuracy, robustness, and generalizability</a:t>
            </a:r>
            <a:r>
              <a:rPr lang="en-US">
                <a:solidFill>
                  <a:srgbClr val="000000"/>
                </a:solidFill>
              </a:rPr>
              <a:t> across diverse speakers</a:t>
            </a:r>
          </a:p>
          <a:p>
            <a:pPr>
              <a:lnSpc>
                <a:spcPct val="114999"/>
              </a:lnSpc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A black background with white and green squares&#10;&#10;AI-generated content may be incorrect.">
            <a:extLst>
              <a:ext uri="{FF2B5EF4-FFF2-40B4-BE49-F238E27FC236}">
                <a16:creationId xmlns:a16="http://schemas.microsoft.com/office/drawing/2014/main" id="{D26FCE3C-C857-0504-EFA1-9399A9569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621" t="-2183" r="16426" b="3408"/>
          <a:stretch>
            <a:fillRect/>
          </a:stretch>
        </p:blipFill>
        <p:spPr>
          <a:xfrm>
            <a:off x="2289080" y="922175"/>
            <a:ext cx="6339972" cy="4509876"/>
          </a:xfrm>
          <a:prstGeom prst="rect">
            <a:avLst/>
          </a:prstGeom>
        </p:spPr>
      </p:pic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D4A6AEB8-E560-B08D-A7BC-6A6AAB34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791" y="2619375"/>
            <a:ext cx="704850" cy="704850"/>
          </a:xfrm>
          <a:prstGeom prst="rect">
            <a:avLst/>
          </a:prstGeom>
        </p:spPr>
      </p:pic>
      <p:pic>
        <p:nvPicPr>
          <p:cNvPr id="7" name="Picture 6" descr="A person in a podium with a cursor&#10;&#10;AI-generated content may be incorrect.">
            <a:extLst>
              <a:ext uri="{FF2B5EF4-FFF2-40B4-BE49-F238E27FC236}">
                <a16:creationId xmlns:a16="http://schemas.microsoft.com/office/drawing/2014/main" id="{EC81F5B2-9224-EF1D-74A9-75C444626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791" y="4037628"/>
            <a:ext cx="704850" cy="704850"/>
          </a:xfrm>
          <a:prstGeom prst="rect">
            <a:avLst/>
          </a:prstGeom>
        </p:spPr>
      </p:pic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548F6DE-FF8C-3D02-CF7A-12A047D8D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299" y="2642896"/>
            <a:ext cx="2337319" cy="1059025"/>
          </a:xfrm>
          <a:prstGeom prst="rect">
            <a:avLst/>
          </a:prstGeom>
        </p:spPr>
      </p:pic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5285D1D-8735-740C-F411-CBFA8CB7D5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299" y="4240763"/>
            <a:ext cx="2337319" cy="8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7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6CF6-5276-0E92-B4B5-92DCDDA00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565" y="-605"/>
            <a:ext cx="2808000" cy="1007600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Times New Roman"/>
              </a:rPr>
              <a:t>Data Collection</a:t>
            </a:r>
            <a:endParaRPr lang="en-US" sz="18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E64DC-2EA9-055C-F59E-E6A43DECA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1" y="2189108"/>
            <a:ext cx="3920106" cy="4136228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4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High-quality voice datasets from reputable sources are used:</a:t>
            </a:r>
          </a:p>
          <a:p>
            <a:pPr lvl="1">
              <a:lnSpc>
                <a:spcPct val="114999"/>
              </a:lnSpc>
            </a:pPr>
            <a:r>
              <a:rPr lang="en-US" sz="1400" b="1" dirty="0" err="1">
                <a:latin typeface="Times New Roman"/>
                <a:cs typeface="Times New Roman"/>
              </a:rPr>
              <a:t>Figshare</a:t>
            </a:r>
            <a:r>
              <a:rPr lang="en-US" sz="1400" b="1" dirty="0">
                <a:latin typeface="Times New Roman"/>
                <a:cs typeface="Times New Roman"/>
              </a:rPr>
              <a:t> Dataset</a:t>
            </a:r>
            <a:r>
              <a:rPr lang="en-US" sz="1400" dirty="0">
                <a:latin typeface="Times New Roman"/>
                <a:cs typeface="Times New Roman"/>
              </a:rPr>
              <a:t>: Voice Samples for Patients with Parkinson’s Disease and Healthy Controls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UCI Parkinson’s Telemonitoring Dataset: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Includes clinically validated voice features.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These datasets provide a </a:t>
            </a: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balanced mix of pathological and healthy speech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, essential for training a reliable classifier.</a:t>
            </a:r>
          </a:p>
          <a:p>
            <a:pPr>
              <a:lnSpc>
                <a:spcPct val="114999"/>
              </a:lnSpc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3A05F-759D-4E02-797E-C6C0D3563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880" y="1386450"/>
            <a:ext cx="5325109" cy="54715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C34B4D-2EA8-FBB6-7AD2-B6892FB136D1}"/>
              </a:ext>
            </a:extLst>
          </p:cNvPr>
          <p:cNvSpPr txBox="1"/>
          <p:nvPr/>
        </p:nvSpPr>
        <p:spPr>
          <a:xfrm>
            <a:off x="7436024" y="2396272"/>
            <a:ext cx="16279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UCI Parkinson’s Telemonitoring Dataset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58F855-114F-7756-2781-3B343FED67D1}"/>
              </a:ext>
            </a:extLst>
          </p:cNvPr>
          <p:cNvSpPr txBox="1"/>
          <p:nvPr/>
        </p:nvSpPr>
        <p:spPr>
          <a:xfrm>
            <a:off x="4323610" y="3734002"/>
            <a:ext cx="1394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Times New Roman"/>
                <a:cs typeface="Times New Roman"/>
              </a:rPr>
              <a:t>Figshare</a:t>
            </a:r>
            <a:r>
              <a:rPr lang="en-US" sz="1400" b="1" dirty="0">
                <a:latin typeface="Times New Roman"/>
                <a:cs typeface="Times New Roman"/>
              </a:rPr>
              <a:t> Dataset</a:t>
            </a:r>
            <a:r>
              <a:rPr lang="en-US" sz="1400" dirty="0">
                <a:latin typeface="Times New Roman"/>
                <a:cs typeface="Times New Roman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53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6E07-02CC-0B7F-E901-455BAF62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439" y="100278"/>
            <a:ext cx="3879217" cy="985514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Data Pre-Processing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F93B6-29C2-A676-4CA6-9AC09068C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85792"/>
            <a:ext cx="4328160" cy="6277023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endParaRPr lang="en-US" sz="1400" i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Pre-processing ensures the raw audio is </a:t>
            </a: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clean, consistent, and ML-ready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Steps performed:</a:t>
            </a:r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A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udio Acquisition and Channel Conversion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input audio file is loaded and converted to a single-channel (mono) signal by averaging the stereo channels</a:t>
            </a:r>
            <a:r>
              <a:rPr lang="en-US" sz="1400" dirty="0"/>
              <a:t>.</a:t>
            </a:r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 Normalization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audio signal is converted to floating-point format and scaled to the range of –1 to +1 to ensure uniform amplitude representation.</a:t>
            </a:r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 Process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audio signal is resampled to a standard frequency of 44,100 Hz to maintain consistency across all audio samples.</a:t>
            </a:r>
          </a:p>
          <a:p>
            <a:pPr lvl="1" algn="just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Normalization and Storage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audio is normalized using the maximum absolute amplitude to avoid clipping and is then saved as a processed output file.</a:t>
            </a:r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endParaRPr lang="en-US" sz="1400" dirty="0"/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  <a:buFont typeface="Courier New" panose="02070309020205020404" pitchFamily="49" charset="0"/>
              <a:buChar char="o"/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8F12C-943E-E4AB-A75B-9F3701C2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" t="-5511" b="5753"/>
          <a:stretch>
            <a:fillRect/>
          </a:stretch>
        </p:blipFill>
        <p:spPr>
          <a:xfrm>
            <a:off x="4815842" y="1356982"/>
            <a:ext cx="2986045" cy="455091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F4902D-C237-6CEC-E37B-BF9063C554A0}"/>
              </a:ext>
            </a:extLst>
          </p:cNvPr>
          <p:cNvSpPr txBox="1"/>
          <p:nvPr/>
        </p:nvSpPr>
        <p:spPr>
          <a:xfrm>
            <a:off x="7315200" y="156018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Times New Roman"/>
                <a:cs typeface="Times New Roman" panose="02020603050405020304" pitchFamily="18" charset="0"/>
              </a:rPr>
              <a:t>A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udio Acquisition 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4A86E5-A50E-2580-48D0-578B7965DF0A}"/>
              </a:ext>
            </a:extLst>
          </p:cNvPr>
          <p:cNvSpPr txBox="1"/>
          <p:nvPr/>
        </p:nvSpPr>
        <p:spPr>
          <a:xfrm>
            <a:off x="7513320" y="2411512"/>
            <a:ext cx="594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C092DB-0A1C-97C6-B97F-7F30D62A00AB}"/>
              </a:ext>
            </a:extLst>
          </p:cNvPr>
          <p:cNvSpPr txBox="1"/>
          <p:nvPr/>
        </p:nvSpPr>
        <p:spPr>
          <a:xfrm>
            <a:off x="7513320" y="3262842"/>
            <a:ext cx="6731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 Process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16A463-7D26-BC7E-F9B8-3E737EEA4B78}"/>
              </a:ext>
            </a:extLst>
          </p:cNvPr>
          <p:cNvSpPr txBox="1"/>
          <p:nvPr/>
        </p:nvSpPr>
        <p:spPr>
          <a:xfrm>
            <a:off x="7403109" y="4114172"/>
            <a:ext cx="1772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Normalization</a:t>
            </a:r>
          </a:p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19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23F8-F667-C7E6-C904-C139B11B8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178" y="442626"/>
            <a:ext cx="6849911" cy="10076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</a:rPr>
              <a:t>Feature Extraction and Handling Class Imbalance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F6964-AC63-8586-A760-C3601F1F3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178" y="1709235"/>
            <a:ext cx="8285564" cy="4581547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600" b="1" i="1" dirty="0">
                <a:solidFill>
                  <a:srgbClr val="000000"/>
                </a:solidFill>
                <a:latin typeface="Times New Roman"/>
              </a:rPr>
              <a:t>Feature Extraction Using </a:t>
            </a:r>
            <a:r>
              <a:rPr lang="en-US" sz="1600" b="1" i="1" dirty="0" err="1">
                <a:solidFill>
                  <a:srgbClr val="000000"/>
                </a:solidFill>
                <a:latin typeface="Times New Roman"/>
              </a:rPr>
              <a:t>Praat</a:t>
            </a:r>
            <a:r>
              <a:rPr lang="en-US" sz="1600" b="1" i="1" dirty="0">
                <a:solidFill>
                  <a:srgbClr val="000000"/>
                </a:solidFill>
                <a:latin typeface="Times New Roman"/>
              </a:rPr>
              <a:t> &amp; </a:t>
            </a:r>
            <a:r>
              <a:rPr lang="en-US" sz="1600" b="1" i="1" dirty="0" err="1">
                <a:solidFill>
                  <a:srgbClr val="000000"/>
                </a:solidFill>
                <a:latin typeface="Times New Roman"/>
              </a:rPr>
              <a:t>Parselmouth</a:t>
            </a:r>
            <a:endParaRPr lang="en-US" sz="16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Extracts clinically relevant vocal biomarkers linked to Parkinson’s Disease:</a:t>
            </a:r>
          </a:p>
          <a:p>
            <a:pPr lvl="1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Frequency (F0): 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Number of times a wave repeats 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Jitter: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Measures frequency instability.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Shimmer: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Measures amplitude instability.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Harmonic-to-Noise Ratio (HNR):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Indicates voice breathiness.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Non-Linear Features: 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RPDE, DFA, Spread1, Spread2 , D2, PPE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These features capture </a:t>
            </a: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subtle motor impairments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in the vocal cords caused by PD.</a:t>
            </a:r>
          </a:p>
          <a:p>
            <a:pPr marL="152400" indent="0">
              <a:lnSpc>
                <a:spcPct val="114999"/>
              </a:lnSpc>
              <a:buNone/>
            </a:pPr>
            <a:br>
              <a:rPr lang="en-US" sz="1400" dirty="0">
                <a:solidFill>
                  <a:srgbClr val="000000"/>
                </a:solidFill>
                <a:latin typeface="Times New Roman"/>
              </a:rPr>
            </a:b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600" b="1" i="1" dirty="0">
                <a:solidFill>
                  <a:srgbClr val="000000"/>
                </a:solidFill>
                <a:latin typeface="Times New Roman"/>
              </a:rPr>
              <a:t>Class Imbalance Treatment</a:t>
            </a:r>
            <a:endParaRPr lang="en-US" sz="16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PD datasets typically contain </a:t>
            </a: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more PD samples than healthy samples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.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To ensure fair learning: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SMOTE Oversampling: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Generates synthetic minority samples.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Class Weights Adjustment: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 Helps the model penalize PD and healthy classes equally.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rgbClr val="000000"/>
                </a:solidFill>
                <a:latin typeface="Times New Roman"/>
              </a:rPr>
              <a:t>This step enhances the model’s </a:t>
            </a: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sensitivity and specificity</a:t>
            </a:r>
            <a:r>
              <a:rPr lang="en-US" sz="1400" dirty="0">
                <a:solidFill>
                  <a:srgbClr val="000000"/>
                </a:solidFill>
                <a:latin typeface="Times New Roman"/>
              </a:rPr>
              <a:t>, especially for early-stage PD.</a:t>
            </a:r>
          </a:p>
          <a:p>
            <a:pPr>
              <a:lnSpc>
                <a:spcPct val="114999"/>
              </a:lnSpc>
            </a:pP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Explanation Note:</a:t>
            </a:r>
            <a:br>
              <a:rPr lang="en-US" sz="1400" b="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dirty="0">
                <a:solidFill>
                  <a:srgbClr val="000000"/>
                </a:solidFill>
                <a:latin typeface="Times New Roman"/>
              </a:rPr>
              <a:t> Stress that imbalance affects prediction reliability and must be corrected.</a:t>
            </a:r>
            <a:endParaRPr lang="en-US" sz="1400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097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2162-98E5-9494-E34B-D7F875F4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004" y="376365"/>
            <a:ext cx="5767652" cy="64316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/>
              </a:rPr>
              <a:t>Feature Scaling and Model Training</a:t>
            </a:r>
            <a:endParaRPr lang="en-US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0F96D-1ECA-4931-E6A2-9FBDE4E4A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82" y="914105"/>
            <a:ext cx="4793038" cy="5649255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endParaRPr lang="en-US" sz="1400" b="1" dirty="0">
              <a:solidFill>
                <a:schemeClr val="tx1"/>
              </a:solidFill>
              <a:latin typeface="Times New Roman"/>
            </a:endParaRPr>
          </a:p>
          <a:p>
            <a:pPr marL="152400" indent="0">
              <a:lnSpc>
                <a:spcPct val="114999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en-US" sz="1400" b="1" i="1" dirty="0">
                <a:solidFill>
                  <a:schemeClr val="tx1"/>
                </a:solidFill>
                <a:latin typeface="Times New Roman"/>
              </a:rPr>
              <a:t>Feature Scaling Techniques</a:t>
            </a:r>
            <a:endParaRPr lang="en-US" sz="1400" b="1" dirty="0">
              <a:solidFill>
                <a:schemeClr val="tx1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Since vocal features have different numeric ranges, scaling ensures </a:t>
            </a: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uniform contribution</a:t>
            </a:r>
            <a:r>
              <a:rPr lang="en-US" sz="1400" dirty="0">
                <a:solidFill>
                  <a:schemeClr val="tx1"/>
                </a:solidFill>
                <a:latin typeface="Times New Roman"/>
              </a:rPr>
              <a:t>.</a:t>
            </a: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Different scalers tested:</a:t>
            </a: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Standard Scaler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lvl="1">
              <a:lnSpc>
                <a:spcPct val="114999"/>
              </a:lnSpc>
            </a:pPr>
            <a:r>
              <a:rPr lang="en-US" sz="1400" b="1" dirty="0" err="1">
                <a:solidFill>
                  <a:schemeClr val="tx1"/>
                </a:solidFill>
                <a:latin typeface="Times New Roman"/>
              </a:rPr>
              <a:t>MinMax</a:t>
            </a: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 Scaler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Robust Scaler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Normalizer</a:t>
            </a:r>
          </a:p>
          <a:p>
            <a:pPr lvl="1">
              <a:lnSpc>
                <a:spcPct val="114999"/>
              </a:lnSpc>
            </a:pPr>
            <a:r>
              <a:rPr lang="en-US" sz="1400" b="1" dirty="0" err="1">
                <a:solidFill>
                  <a:schemeClr val="tx1"/>
                </a:solidFill>
                <a:latin typeface="Times New Roman"/>
              </a:rPr>
              <a:t>MaxAbs</a:t>
            </a: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 Scaler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lvl="1">
              <a:lnSpc>
                <a:spcPct val="114999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Power Transformer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The best-performing scaler is chosen after evaluating model accuracy.</a:t>
            </a:r>
            <a:br>
              <a:rPr lang="en-US" sz="1400" dirty="0">
                <a:solidFill>
                  <a:schemeClr val="tx1"/>
                </a:solidFill>
                <a:latin typeface="Times New Roman"/>
              </a:rPr>
            </a:b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buNone/>
            </a:pP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(Principal Component Analysis)</a:t>
            </a: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reduce feature dimensions, remove redundancy, and improve model performance. Data was standardized before applying PCA, and only high-variance components were retained. The final use of PCA was decided based on model accuracy.</a:t>
            </a:r>
          </a:p>
          <a:p>
            <a:pPr marL="152400" indent="0">
              <a:lnSpc>
                <a:spcPct val="114999"/>
              </a:lnSpc>
              <a:buNone/>
            </a:pPr>
            <a:endParaRPr lang="en-US" sz="1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6" name="Picture 5" descr="A purple hexagons on a black background&#10;&#10;AI-generated content may be incorrect.">
            <a:extLst>
              <a:ext uri="{FF2B5EF4-FFF2-40B4-BE49-F238E27FC236}">
                <a16:creationId xmlns:a16="http://schemas.microsoft.com/office/drawing/2014/main" id="{342D2FD9-2C23-8C04-7DB6-BE12CD9E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68" y="2319269"/>
            <a:ext cx="1333500" cy="3257550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B074ECD-DAC3-F4C5-2B3B-05F6E3768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991" y="2734227"/>
            <a:ext cx="1952625" cy="704850"/>
          </a:xfrm>
          <a:prstGeom prst="rect">
            <a:avLst/>
          </a:prstGeom>
        </p:spPr>
      </p:pic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984FC5A8-80FF-9324-D5AC-B1A349ACD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620" y="3595618"/>
            <a:ext cx="1838325" cy="704850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D20E440-9441-3A2A-C180-7760074D7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170" y="4401793"/>
            <a:ext cx="21812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5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3A6A0-54A5-9FAC-B363-7F15C1D5CB89}"/>
              </a:ext>
            </a:extLst>
          </p:cNvPr>
          <p:cNvSpPr txBox="1"/>
          <p:nvPr/>
        </p:nvSpPr>
        <p:spPr>
          <a:xfrm>
            <a:off x="528320" y="1392659"/>
            <a:ext cx="7040880" cy="5275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</a:pPr>
            <a:r>
              <a:rPr lang="en-US" sz="1400" b="1" i="1" dirty="0">
                <a:solidFill>
                  <a:schemeClr val="tx1"/>
                </a:solidFill>
                <a:latin typeface="Times New Roman"/>
              </a:rPr>
              <a:t>ML models used: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Support Vector Machine (SVM)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Random Forest (RF)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Gradient Boosting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XGBoost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LightGBM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Linear SVC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Logistic Regression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K-Nearest </a:t>
            </a: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Neighbours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Decision Tree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AdaBoost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Naïve Bayes</a:t>
            </a:r>
          </a:p>
          <a:p>
            <a:pPr lvl="1">
              <a:lnSpc>
                <a:spcPct val="114999"/>
              </a:lnSpc>
            </a:pP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lvl="1">
              <a:lnSpc>
                <a:spcPct val="114999"/>
              </a:lnSpc>
            </a:pPr>
            <a:r>
              <a:rPr lang="en-US" b="1" i="1" dirty="0">
                <a:solidFill>
                  <a:schemeClr val="tx1"/>
                </a:solidFill>
                <a:latin typeface="Times New Roman"/>
              </a:rPr>
              <a:t>Hyperparameter Optimization</a:t>
            </a:r>
            <a:endParaRPr lang="en-US" sz="1400" b="1" i="1" dirty="0">
              <a:solidFill>
                <a:schemeClr val="tx1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b="1" dirty="0" err="1">
                <a:solidFill>
                  <a:schemeClr val="tx1"/>
                </a:solidFill>
                <a:latin typeface="Times New Roman"/>
              </a:rPr>
              <a:t>GridSearchCV</a:t>
            </a:r>
            <a:r>
              <a:rPr lang="en-US" sz="1400" dirty="0">
                <a:solidFill>
                  <a:schemeClr val="tx1"/>
                </a:solidFill>
                <a:latin typeface="Times New Roman"/>
              </a:rPr>
              <a:t> performs exhaustive optimization of:</a:t>
            </a: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Max_depth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tx1"/>
                </a:solidFill>
                <a:latin typeface="Times New Roman"/>
              </a:rPr>
              <a:t>Max_features</a:t>
            </a: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Min_sample_leaf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tx1"/>
                </a:solidFill>
                <a:latin typeface="Times New Roman"/>
              </a:rPr>
              <a:t>Min_samples_split</a:t>
            </a: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marL="285750" lvl="1" indent="-285750">
              <a:lnSpc>
                <a:spcPct val="114999"/>
              </a:lnSpc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tx1"/>
                </a:solidFill>
                <a:latin typeface="Times New Roman"/>
              </a:rPr>
              <a:t>N_estimators</a:t>
            </a:r>
            <a:endParaRPr lang="en-US" sz="1400" dirty="0">
              <a:solidFill>
                <a:schemeClr val="tx1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400" dirty="0">
                <a:solidFill>
                  <a:schemeClr val="tx1"/>
                </a:solidFill>
                <a:latin typeface="Times New Roman"/>
              </a:rPr>
              <a:t>Ensures the final model is </a:t>
            </a:r>
            <a:r>
              <a:rPr lang="en-US" sz="1400" b="1" dirty="0">
                <a:solidFill>
                  <a:schemeClr val="tx1"/>
                </a:solidFill>
                <a:latin typeface="Times New Roman"/>
              </a:rPr>
              <a:t>optimized for maximum accuracy</a:t>
            </a:r>
            <a:r>
              <a:rPr lang="en-US" sz="1400" dirty="0">
                <a:solidFill>
                  <a:schemeClr val="tx1"/>
                </a:solidFill>
                <a:latin typeface="Times New Roman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38162-D6F2-816D-7333-28F0AC489DB4}"/>
              </a:ext>
            </a:extLst>
          </p:cNvPr>
          <p:cNvSpPr txBox="1"/>
          <p:nvPr/>
        </p:nvSpPr>
        <p:spPr>
          <a:xfrm>
            <a:off x="2397443" y="401481"/>
            <a:ext cx="5733097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0">
              <a:lnSpc>
                <a:spcPct val="114999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/>
              </a:rPr>
              <a:t>Model Training &amp; Hyperparameter Optimization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BABBEB1-31A7-7029-D48E-A39714B72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8" y="6096"/>
            <a:ext cx="5038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02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D013-4265-E523-D470-0B104DA7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430" y="287719"/>
            <a:ext cx="4414378" cy="976709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Times New Roman"/>
              </a:rPr>
              <a:t>Model Validation &amp; Evaluation</a:t>
            </a:r>
            <a:endParaRPr lang="en-US" sz="200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863B5-8CC4-0E42-7653-909726CB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5858" y="1253577"/>
            <a:ext cx="3269696" cy="3259486"/>
          </a:xfrm>
        </p:spPr>
        <p:txBody>
          <a:bodyPr>
            <a:normAutofit lnSpcReduction="10000"/>
          </a:bodyPr>
          <a:lstStyle/>
          <a:p>
            <a:pPr marL="152400" indent="0">
              <a:buNone/>
            </a:pPr>
            <a:endParaRPr lang="en-US" sz="16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Train-Test Split (70:30)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ensures unbiased evaluation.</a:t>
            </a:r>
          </a:p>
          <a:p>
            <a:pPr>
              <a:lnSpc>
                <a:spcPct val="114999"/>
              </a:lnSpc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Performance Metrics:</a:t>
            </a:r>
          </a:p>
          <a:p>
            <a:pPr lvl="1">
              <a:lnSpc>
                <a:spcPct val="114999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Accuracy</a:t>
            </a:r>
          </a:p>
          <a:p>
            <a:pPr lvl="1">
              <a:lnSpc>
                <a:spcPct val="114999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Precision &amp; Recall</a:t>
            </a:r>
          </a:p>
          <a:p>
            <a:pPr lvl="1">
              <a:lnSpc>
                <a:spcPct val="114999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F1-score</a:t>
            </a:r>
          </a:p>
          <a:p>
            <a:pPr lvl="1">
              <a:lnSpc>
                <a:spcPct val="114999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ROC–AUC Curve</a:t>
            </a:r>
          </a:p>
          <a:p>
            <a:pPr>
              <a:lnSpc>
                <a:spcPct val="114999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Ensures the model is </a:t>
            </a: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not overfitted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and can generalize to unseen voices.</a:t>
            </a:r>
          </a:p>
          <a:p>
            <a:pPr>
              <a:lnSpc>
                <a:spcPct val="114999"/>
              </a:lnSpc>
            </a:pPr>
            <a:endParaRPr lang="en-US" sz="1600" b="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4999"/>
              </a:lnSpc>
            </a:pPr>
            <a:endParaRPr lang="en-US" sz="160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3" descr="A yellow and orange rectangle&#10;&#10;AI-generated content may be incorrect.">
            <a:extLst>
              <a:ext uri="{FF2B5EF4-FFF2-40B4-BE49-F238E27FC236}">
                <a16:creationId xmlns:a16="http://schemas.microsoft.com/office/drawing/2014/main" id="{2CA56590-8819-D5C2-BD3B-6D2CEAF05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31" b="10298"/>
          <a:stretch>
            <a:fillRect/>
          </a:stretch>
        </p:blipFill>
        <p:spPr>
          <a:xfrm>
            <a:off x="2695179" y="1121633"/>
            <a:ext cx="6352970" cy="3400554"/>
          </a:xfrm>
          <a:prstGeom prst="rect">
            <a:avLst/>
          </a:prstGeom>
        </p:spPr>
      </p:pic>
      <p:pic>
        <p:nvPicPr>
          <p:cNvPr id="5" name="Picture 4" descr="A screenshot of a device&#10;&#10;AI-generated content may be incorrect.">
            <a:extLst>
              <a:ext uri="{FF2B5EF4-FFF2-40B4-BE49-F238E27FC236}">
                <a16:creationId xmlns:a16="http://schemas.microsoft.com/office/drawing/2014/main" id="{41257319-E946-2FF9-80F4-06537BF3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29" y="3590122"/>
            <a:ext cx="2524125" cy="2066925"/>
          </a:xfrm>
          <a:prstGeom prst="rect">
            <a:avLst/>
          </a:prstGeom>
        </p:spPr>
      </p:pic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C50E1C0-DC95-D889-12B4-C80D5E25D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270" y="2050440"/>
            <a:ext cx="2552700" cy="1833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BEB6C-9344-EE79-D7B6-BF5F850C9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833" y="2046409"/>
            <a:ext cx="1765056" cy="51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5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A0E3-D1A4-DDEA-86A5-E37888B08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673" y="-606"/>
            <a:ext cx="4043675" cy="80165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Times New Roman"/>
              </a:rPr>
              <a:t>Deployment Pipeline</a:t>
            </a:r>
            <a:endParaRPr lang="en-US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11" name="Picture 10" descr="A road with hexagons and a black background&#10;&#10;AI-generated content may be incorrect.">
            <a:extLst>
              <a:ext uri="{FF2B5EF4-FFF2-40B4-BE49-F238E27FC236}">
                <a16:creationId xmlns:a16="http://schemas.microsoft.com/office/drawing/2014/main" id="{C47FD469-1622-8EC0-4DAB-762D1E4144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29" b="9541"/>
          <a:stretch>
            <a:fillRect/>
          </a:stretch>
        </p:blipFill>
        <p:spPr>
          <a:xfrm>
            <a:off x="662367" y="881773"/>
            <a:ext cx="7832628" cy="5083558"/>
          </a:xfrm>
          <a:prstGeom prst="rect">
            <a:avLst/>
          </a:prstGeom>
        </p:spPr>
      </p:pic>
      <p:pic>
        <p:nvPicPr>
          <p:cNvPr id="16" name="Picture 1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1589365-3224-4A21-8857-D0A08BEF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12" y="2678504"/>
            <a:ext cx="590550" cy="590550"/>
          </a:xfrm>
          <a:prstGeom prst="rect">
            <a:avLst/>
          </a:prstGeom>
        </p:spPr>
      </p:pic>
      <p:pic>
        <p:nvPicPr>
          <p:cNvPr id="17" name="Picture 16" descr="A white lines in a black background&#10;&#10;AI-generated content may be incorrect.">
            <a:extLst>
              <a:ext uri="{FF2B5EF4-FFF2-40B4-BE49-F238E27FC236}">
                <a16:creationId xmlns:a16="http://schemas.microsoft.com/office/drawing/2014/main" id="{B756C8D7-F8D5-4078-5721-4371E4BE5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982" y="3104182"/>
            <a:ext cx="590550" cy="590550"/>
          </a:xfrm>
          <a:prstGeom prst="rect">
            <a:avLst/>
          </a:prstGeom>
        </p:spPr>
      </p:pic>
      <p:pic>
        <p:nvPicPr>
          <p:cNvPr id="21" name="Picture 20" descr="A white arrows pointing to the center of a black background&#10;&#10;AI-generated content may be incorrect.">
            <a:extLst>
              <a:ext uri="{FF2B5EF4-FFF2-40B4-BE49-F238E27FC236}">
                <a16:creationId xmlns:a16="http://schemas.microsoft.com/office/drawing/2014/main" id="{F675A12A-6C95-0B06-A89D-6FC6F0DC9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3541683"/>
            <a:ext cx="590550" cy="590550"/>
          </a:xfrm>
          <a:prstGeom prst="rect">
            <a:avLst/>
          </a:prstGeom>
        </p:spPr>
      </p:pic>
      <p:pic>
        <p:nvPicPr>
          <p:cNvPr id="22" name="Picture 21" descr="A white line on a black background&#10;&#10;AI-generated content may be incorrect.">
            <a:extLst>
              <a:ext uri="{FF2B5EF4-FFF2-40B4-BE49-F238E27FC236}">
                <a16:creationId xmlns:a16="http://schemas.microsoft.com/office/drawing/2014/main" id="{8B0DB064-10D3-E4DF-1A17-22C56D6FA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120" y="4036735"/>
            <a:ext cx="590550" cy="590550"/>
          </a:xfrm>
          <a:prstGeom prst="rect">
            <a:avLst/>
          </a:prstGeom>
        </p:spPr>
      </p:pic>
      <p:pic>
        <p:nvPicPr>
          <p:cNvPr id="23" name="Picture 22" descr="A white line drawing of a graph&#10;&#10;AI-generated content may be incorrect.">
            <a:extLst>
              <a:ext uri="{FF2B5EF4-FFF2-40B4-BE49-F238E27FC236}">
                <a16:creationId xmlns:a16="http://schemas.microsoft.com/office/drawing/2014/main" id="{CC154859-9454-8F8C-6A72-307E37C2C5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1194" y="4496610"/>
            <a:ext cx="590550" cy="590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50558F-46EF-96EA-963A-52F63A5899DC}"/>
              </a:ext>
            </a:extLst>
          </p:cNvPr>
          <p:cNvSpPr txBox="1"/>
          <p:nvPr/>
        </p:nvSpPr>
        <p:spPr>
          <a:xfrm>
            <a:off x="1301255" y="1772161"/>
            <a:ext cx="1675625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Voice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records voice through microphone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82087-4653-E2D4-7437-FFC11A943863}"/>
              </a:ext>
            </a:extLst>
          </p:cNvPr>
          <p:cNvSpPr txBox="1"/>
          <p:nvPr/>
        </p:nvSpPr>
        <p:spPr>
          <a:xfrm>
            <a:off x="2391768" y="4157305"/>
            <a:ext cx="1675625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3CC58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the uploaded audio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FFD5B-DAFD-60E7-1305-443787CC74FF}"/>
              </a:ext>
            </a:extLst>
          </p:cNvPr>
          <p:cNvSpPr txBox="1"/>
          <p:nvPr/>
        </p:nvSpPr>
        <p:spPr>
          <a:xfrm>
            <a:off x="4204317" y="2247406"/>
            <a:ext cx="15316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92BD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Acoustic Features</a:t>
            </a:r>
            <a:endParaRPr lang="en-US" sz="1400" b="1" dirty="0">
              <a:solidFill>
                <a:srgbClr val="92BD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Acoustic features are extracted using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parselmouth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A1ABB-B027-539A-F879-7F857028CED0}"/>
              </a:ext>
            </a:extLst>
          </p:cNvPr>
          <p:cNvSpPr txBox="1"/>
          <p:nvPr/>
        </p:nvSpPr>
        <p:spPr>
          <a:xfrm>
            <a:off x="5103510" y="5011224"/>
            <a:ext cx="15316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AB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 Features Into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Scaled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fed into ML model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E83CDC-D46E-D913-6494-F568D631AF05}"/>
              </a:ext>
            </a:extLst>
          </p:cNvPr>
          <p:cNvSpPr txBox="1"/>
          <p:nvPr/>
        </p:nvSpPr>
        <p:spPr>
          <a:xfrm>
            <a:off x="6711984" y="3217678"/>
            <a:ext cx="167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0CB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Probability Score</a:t>
            </a:r>
            <a:endParaRPr lang="en-US" sz="1400" b="1" dirty="0">
              <a:solidFill>
                <a:srgbClr val="E0CB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score is displayed to the user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39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A450-B332-846D-0FFC-40883A0C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912" y="172329"/>
            <a:ext cx="4877756" cy="678087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/>
              </a:rPr>
              <a:t>IMPLEMENTATION(ALGORITHM)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CC168-1DDB-4D33-6E84-400C7C784B32}"/>
              </a:ext>
            </a:extLst>
          </p:cNvPr>
          <p:cNvSpPr txBox="1"/>
          <p:nvPr/>
        </p:nvSpPr>
        <p:spPr>
          <a:xfrm>
            <a:off x="605524" y="1005698"/>
            <a:ext cx="3359960" cy="56784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Times New Roman"/>
              </a:rPr>
              <a:t>CONSTANTS:</a:t>
            </a:r>
          </a:p>
          <a:p>
            <a:r>
              <a:rPr lang="en-US" sz="1100" dirty="0">
                <a:latin typeface="Times New Roman"/>
              </a:rPr>
              <a:t>    DATA_FILE = 'pd_voice_data.csv'</a:t>
            </a:r>
          </a:p>
          <a:p>
            <a:r>
              <a:rPr lang="en-US" sz="1100" dirty="0">
                <a:latin typeface="Times New Roman"/>
              </a:rPr>
              <a:t>    RECORD_DURATION = 3 seconds</a:t>
            </a:r>
          </a:p>
          <a:p>
            <a:r>
              <a:rPr lang="en-US" sz="1100" dirty="0">
                <a:latin typeface="Times New Roman"/>
              </a:rPr>
              <a:t>    SAMPLE_RATE = 44100 Hz</a:t>
            </a:r>
          </a:p>
          <a:p>
            <a:r>
              <a:rPr lang="en-US" sz="1100" dirty="0">
                <a:latin typeface="Times New Roman"/>
              </a:rPr>
              <a:t>    TRAIN_TEST_SPLIT = 0.7/0.3</a:t>
            </a:r>
          </a:p>
          <a:p>
            <a:r>
              <a:rPr lang="en-US" sz="1100" dirty="0">
                <a:latin typeface="Times New Roman"/>
              </a:rPr>
              <a:t>    RANDOM_STATE = 42</a:t>
            </a:r>
          </a:p>
          <a:p>
            <a:endParaRPr lang="en-US" sz="1100" dirty="0">
              <a:latin typeface="Times New Roman"/>
            </a:endParaRPr>
          </a:p>
          <a:p>
            <a:r>
              <a:rPr lang="en-US" sz="1100" b="1" dirty="0">
                <a:latin typeface="Times New Roman"/>
              </a:rPr>
              <a:t>MODULE 1: AUDIO PREPROCESSING</a:t>
            </a:r>
          </a:p>
          <a:p>
            <a:endParaRPr lang="en-US" sz="1100" dirty="0">
              <a:latin typeface="Times New Roman"/>
            </a:endParaRPr>
          </a:p>
          <a:p>
            <a:r>
              <a:rPr lang="en-US" sz="1100" b="1" dirty="0">
                <a:latin typeface="Times New Roman"/>
              </a:rPr>
              <a:t>FUNCTION</a:t>
            </a:r>
            <a:r>
              <a:rPr lang="en-US" sz="1100" dirty="0">
                <a:latin typeface="Times New Roman"/>
              </a:rPr>
              <a:t> </a:t>
            </a:r>
            <a:r>
              <a:rPr lang="en-US" sz="1100" dirty="0" err="1">
                <a:latin typeface="Times New Roman"/>
              </a:rPr>
              <a:t>preprocess_audio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audio_file</a:t>
            </a:r>
            <a:r>
              <a:rPr lang="en-US" sz="1100" dirty="0">
                <a:latin typeface="Times New Roman"/>
              </a:rPr>
              <a:t>):</a:t>
            </a:r>
          </a:p>
          <a:p>
            <a:r>
              <a:rPr lang="en-US" sz="1100" dirty="0">
                <a:latin typeface="Times New Roman"/>
              </a:rPr>
              <a:t>    INPUT: </a:t>
            </a:r>
            <a:r>
              <a:rPr lang="en-US" sz="1100" dirty="0" err="1">
                <a:latin typeface="Times New Roman"/>
              </a:rPr>
              <a:t>audio_file_path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OUTPUT: </a:t>
            </a:r>
            <a:r>
              <a:rPr lang="en-US" sz="1100" dirty="0" err="1">
                <a:latin typeface="Times New Roman"/>
              </a:rPr>
              <a:t>normalized_audio_path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Load and convert audio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sample_rate</a:t>
            </a:r>
            <a:r>
              <a:rPr lang="en-US" sz="1100" dirty="0">
                <a:latin typeface="Times New Roman"/>
              </a:rPr>
              <a:t>, audio ← READ_WAV(</a:t>
            </a:r>
            <a:r>
              <a:rPr lang="en-US" sz="1100" dirty="0" err="1">
                <a:latin typeface="Times New Roman"/>
              </a:rPr>
              <a:t>audio_file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Convert to mono</a:t>
            </a:r>
          </a:p>
          <a:p>
            <a:r>
              <a:rPr lang="en-US" sz="1100" dirty="0">
                <a:latin typeface="Times New Roman"/>
              </a:rPr>
              <a:t>    IF stereo THEN audio ← MEAN(channels)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Normalize data type to float [-1, 1]</a:t>
            </a:r>
          </a:p>
          <a:p>
            <a:r>
              <a:rPr lang="en-US" sz="1100" dirty="0">
                <a:latin typeface="Times New Roman"/>
              </a:rPr>
              <a:t>    IF int16 THEN audio ← audio / 32768.0</a:t>
            </a:r>
          </a:p>
          <a:p>
            <a:r>
              <a:rPr lang="en-US" sz="1100" dirty="0">
                <a:latin typeface="Times New Roman"/>
              </a:rPr>
              <a:t> </a:t>
            </a:r>
            <a:r>
              <a:rPr lang="en-US" sz="1100" b="1" dirty="0">
                <a:latin typeface="Times New Roman"/>
              </a:rPr>
              <a:t>   </a:t>
            </a:r>
          </a:p>
          <a:p>
            <a:r>
              <a:rPr lang="en-US" sz="1100" b="1" dirty="0">
                <a:latin typeface="Times New Roman"/>
              </a:rPr>
              <a:t>    // Resample to 44100 Hz</a:t>
            </a:r>
          </a:p>
          <a:p>
            <a:r>
              <a:rPr lang="en-US" sz="1100" dirty="0">
                <a:latin typeface="Times New Roman"/>
              </a:rPr>
              <a:t>    IF </a:t>
            </a:r>
            <a:r>
              <a:rPr lang="en-US" sz="1100" dirty="0" err="1">
                <a:latin typeface="Times New Roman"/>
              </a:rPr>
              <a:t>sample_rate</a:t>
            </a:r>
            <a:r>
              <a:rPr lang="en-US" sz="1100" dirty="0">
                <a:latin typeface="Times New Roman"/>
              </a:rPr>
              <a:t> ≠ 44100 THEN</a:t>
            </a:r>
          </a:p>
          <a:p>
            <a:r>
              <a:rPr lang="en-US" sz="1100" dirty="0">
                <a:latin typeface="Times New Roman"/>
              </a:rPr>
              <a:t>        audio ← RESAMPLE(audio, 44100)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Peak normalization</a:t>
            </a:r>
          </a:p>
          <a:p>
            <a:r>
              <a:rPr lang="en-US" sz="1100" dirty="0">
                <a:latin typeface="Times New Roman"/>
              </a:rPr>
              <a:t>    audio ← audio / MAX(|audio|)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dirty="0">
                <a:latin typeface="Times New Roman"/>
              </a:rPr>
              <a:t>    SAVE normalized audio</a:t>
            </a:r>
          </a:p>
          <a:p>
            <a:r>
              <a:rPr lang="en-US" sz="1100" dirty="0">
                <a:latin typeface="Times New Roman"/>
              </a:rPr>
              <a:t>    RETURN </a:t>
            </a:r>
            <a:r>
              <a:rPr lang="en-US" sz="1100" dirty="0" err="1">
                <a:latin typeface="Times New Roman"/>
              </a:rPr>
              <a:t>normalized_path</a:t>
            </a:r>
            <a:endParaRPr lang="en-US" sz="1100" dirty="0">
              <a:latin typeface="Times New Roman"/>
            </a:endParaRPr>
          </a:p>
          <a:p>
            <a:r>
              <a:rPr lang="en-US" sz="1100" b="1" dirty="0">
                <a:latin typeface="Times New Roman"/>
              </a:rPr>
              <a:t>END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BEB62-259E-7E21-18F2-D346036B7903}"/>
              </a:ext>
            </a:extLst>
          </p:cNvPr>
          <p:cNvSpPr txBox="1"/>
          <p:nvPr/>
        </p:nvSpPr>
        <p:spPr>
          <a:xfrm>
            <a:off x="4233659" y="1003935"/>
            <a:ext cx="4203616" cy="601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latin typeface="Times New Roman"/>
              </a:rPr>
              <a:t>MODULE 2: FEATURE EXTRACTION (22 Features)</a:t>
            </a:r>
          </a:p>
          <a:p>
            <a:endParaRPr lang="en-US" sz="1100">
              <a:latin typeface="Times New Roman"/>
            </a:endParaRPr>
          </a:p>
          <a:p>
            <a:r>
              <a:rPr lang="en-US" sz="1100" b="1">
                <a:latin typeface="Times New Roman"/>
              </a:rPr>
              <a:t>FUNCTION </a:t>
            </a:r>
            <a:r>
              <a:rPr lang="en-US" sz="1100">
                <a:latin typeface="Times New Roman"/>
              </a:rPr>
              <a:t>extract_features(audio_file):</a:t>
            </a:r>
          </a:p>
          <a:p>
            <a:r>
              <a:rPr lang="en-US" sz="1100">
                <a:latin typeface="Times New Roman"/>
              </a:rPr>
              <a:t>    INPUT: audio_file_path</a:t>
            </a:r>
          </a:p>
          <a:p>
            <a:r>
              <a:rPr lang="en-US" sz="1100">
                <a:latin typeface="Times New Roman"/>
              </a:rPr>
              <a:t>    OUTPUT: feature_vector[22], feature_dict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>
                <a:latin typeface="Times New Roman"/>
              </a:rPr>
              <a:t>   </a:t>
            </a:r>
            <a:r>
              <a:rPr lang="en-US" sz="1100" b="1">
                <a:latin typeface="Times New Roman"/>
              </a:rPr>
              <a:t> // Preprocess and load</a:t>
            </a:r>
          </a:p>
          <a:p>
            <a:r>
              <a:rPr lang="en-US" sz="1100">
                <a:latin typeface="Times New Roman"/>
              </a:rPr>
              <a:t>    audio ← preprocess_audio(audio_file)</a:t>
            </a:r>
          </a:p>
          <a:p>
            <a:r>
              <a:rPr lang="en-US" sz="1100">
                <a:latin typeface="Times New Roman"/>
              </a:rPr>
              <a:t>    sound ← LOAD_SOUND(audio)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 b="1">
                <a:latin typeface="Times New Roman"/>
              </a:rPr>
              <a:t>    // Extract pitch and periodic points</a:t>
            </a:r>
          </a:p>
          <a:p>
            <a:r>
              <a:rPr lang="en-US" sz="1100">
                <a:latin typeface="Times New Roman"/>
              </a:rPr>
              <a:t>    pitch ← EXTRACT_PITCH(sound, f_min=75, f_max=500)</a:t>
            </a:r>
          </a:p>
          <a:p>
            <a:r>
              <a:rPr lang="en-US" sz="1100">
                <a:latin typeface="Times New Roman"/>
              </a:rPr>
              <a:t>    points ← DETECT_PERIODIC_POINTS(sound)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>
                <a:latin typeface="Times New Roman"/>
              </a:rPr>
              <a:t>    </a:t>
            </a:r>
            <a:r>
              <a:rPr lang="en-US" sz="1100" b="1">
                <a:latin typeface="Times New Roman"/>
              </a:rPr>
              <a:t>// FREQUENCY FEATURES (3)</a:t>
            </a:r>
          </a:p>
          <a:p>
            <a:r>
              <a:rPr lang="en-US" sz="1100">
                <a:latin typeface="Times New Roman"/>
              </a:rPr>
              <a:t>    F0_mean ← MEAN(pitch)</a:t>
            </a:r>
          </a:p>
          <a:p>
            <a:r>
              <a:rPr lang="en-US" sz="1100">
                <a:latin typeface="Times New Roman"/>
              </a:rPr>
              <a:t>    F0_max ← MAX(pitch)</a:t>
            </a:r>
          </a:p>
          <a:p>
            <a:r>
              <a:rPr lang="en-US" sz="1100">
                <a:latin typeface="Times New Roman"/>
              </a:rPr>
              <a:t>    F0_min ← MIN(pitch)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>
                <a:latin typeface="Times New Roman"/>
              </a:rPr>
              <a:t> </a:t>
            </a:r>
            <a:r>
              <a:rPr lang="en-US" sz="1100" b="1">
                <a:latin typeface="Times New Roman"/>
              </a:rPr>
              <a:t>   // JITTER FEATURES (5) - frequency variation</a:t>
            </a:r>
          </a:p>
          <a:p>
            <a:r>
              <a:rPr lang="en-US" sz="1100">
                <a:latin typeface="Times New Roman"/>
              </a:rPr>
              <a:t>    jitter_local ← COMPUTE_JITTER_LOCAL(points)</a:t>
            </a:r>
          </a:p>
          <a:p>
            <a:r>
              <a:rPr lang="en-US" sz="1100">
                <a:latin typeface="Times New Roman"/>
              </a:rPr>
              <a:t>    jitter_abs ← jitter_local × F0_mean / 1000000</a:t>
            </a:r>
          </a:p>
          <a:p>
            <a:r>
              <a:rPr lang="en-US" sz="1100">
                <a:latin typeface="Times New Roman"/>
              </a:rPr>
              <a:t>    jitter_rap ← COMPUTE_JITTER_RAP(points)</a:t>
            </a:r>
          </a:p>
          <a:p>
            <a:r>
              <a:rPr lang="en-US" sz="1100">
                <a:latin typeface="Times New Roman"/>
              </a:rPr>
              <a:t>    jitter_ppq ← COMPUTE_JITTER_PPQ5(points)</a:t>
            </a:r>
          </a:p>
          <a:p>
            <a:r>
              <a:rPr lang="en-US" sz="1100">
                <a:latin typeface="Times New Roman"/>
              </a:rPr>
              <a:t>    jitter_ddp ← COMPUTE_JITTER_DDP(points)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 b="1">
                <a:latin typeface="Times New Roman"/>
              </a:rPr>
              <a:t>    // SHIMMER FEATURES (6) - amplitude variation</a:t>
            </a:r>
          </a:p>
          <a:p>
            <a:r>
              <a:rPr lang="en-US" sz="1100">
                <a:latin typeface="Times New Roman"/>
              </a:rPr>
              <a:t>    shimmer_local ← COMPUTE_SHIMMER_LOCAL(sound, points)</a:t>
            </a:r>
          </a:p>
          <a:p>
            <a:r>
              <a:rPr lang="en-US" sz="1100">
                <a:latin typeface="Times New Roman"/>
              </a:rPr>
              <a:t>    shimmer_db ← COMPUTE_SHIMMER_DB(sound, points)</a:t>
            </a:r>
          </a:p>
          <a:p>
            <a:r>
              <a:rPr lang="en-US" sz="1100">
                <a:latin typeface="Times New Roman"/>
              </a:rPr>
              <a:t>    shimmer_apq3 ← COMPUTE_SHIMMER_APQ3(sound, points)</a:t>
            </a:r>
          </a:p>
          <a:p>
            <a:r>
              <a:rPr lang="en-US" sz="1100">
                <a:latin typeface="Times New Roman"/>
              </a:rPr>
              <a:t>    shimmer_apq5 ← COMPUTE_SHIMMER_APQ5(sound, points)</a:t>
            </a:r>
          </a:p>
          <a:p>
            <a:r>
              <a:rPr lang="en-US" sz="1100">
                <a:latin typeface="Times New Roman"/>
              </a:rPr>
              <a:t>    shimmer_apq11 ← COMPUTE_SHIMMER_APQ11(sound, points)</a:t>
            </a:r>
          </a:p>
          <a:p>
            <a:r>
              <a:rPr lang="en-US" sz="1100">
                <a:latin typeface="Times New Roman"/>
              </a:rPr>
              <a:t>    shimmer_dda ← COMPUTE_SHIMMER_DDA(sound, points)</a:t>
            </a:r>
          </a:p>
          <a:p>
            <a:r>
              <a:rPr lang="en-US" sz="1100">
                <a:latin typeface="Times New Roman"/>
              </a:rPr>
              <a:t>    </a:t>
            </a:r>
          </a:p>
          <a:p>
            <a:r>
              <a:rPr lang="en-US" sz="1100">
                <a:latin typeface="Times New Roman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01496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BBF4E4-F398-B7D0-B661-23775B994D06}"/>
              </a:ext>
            </a:extLst>
          </p:cNvPr>
          <p:cNvSpPr txBox="1"/>
          <p:nvPr/>
        </p:nvSpPr>
        <p:spPr>
          <a:xfrm>
            <a:off x="722" y="1126525"/>
            <a:ext cx="4266251" cy="62324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Times New Roman"/>
                <a:cs typeface="Times New Roman"/>
              </a:rPr>
              <a:t>  // HARMONICITY FEATURES (2)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harmonicity ← COMPUTE_HARMONICITY(sound)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HNR ← MEAN(harmonicity)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NHR ← 1 / HNR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 // NONLINEAR FEATURES (6) 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RPDE ← 0.45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DFA ← 0.72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spread1 ← -65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spread2 ← 0.2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D2 ← 2.3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PPE ← 0.15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 // Assemble 22-feature vector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features ← [F0_mean, F0_max, F0_min,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         </a:t>
            </a:r>
            <a:r>
              <a:rPr lang="en-US" sz="1100" dirty="0" err="1">
                <a:latin typeface="Times New Roman"/>
                <a:cs typeface="Times New Roman"/>
              </a:rPr>
              <a:t>jitter_local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jitter_abs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jitter_rap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jitter_ppq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jitter_ddp</a:t>
            </a:r>
            <a:r>
              <a:rPr lang="en-US" sz="1100" dirty="0">
                <a:latin typeface="Times New Roman"/>
                <a:cs typeface="Times New Roman"/>
              </a:rPr>
              <a:t>,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         </a:t>
            </a:r>
            <a:r>
              <a:rPr lang="en-US" sz="1100" dirty="0" err="1">
                <a:latin typeface="Times New Roman"/>
                <a:cs typeface="Times New Roman"/>
              </a:rPr>
              <a:t>shimmer_local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shimmer_db</a:t>
            </a:r>
            <a:r>
              <a:rPr lang="en-US" sz="1100" dirty="0">
                <a:latin typeface="Times New Roman"/>
                <a:cs typeface="Times New Roman"/>
              </a:rPr>
              <a:t>, shimmer_apq3, shimmer_apq5, 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         shimmer_apq11, </a:t>
            </a:r>
            <a:r>
              <a:rPr lang="en-US" sz="1100" dirty="0" err="1">
                <a:latin typeface="Times New Roman"/>
                <a:cs typeface="Times New Roman"/>
              </a:rPr>
              <a:t>shimmer_dda</a:t>
            </a:r>
            <a:r>
              <a:rPr lang="en-US" sz="1100" dirty="0">
                <a:latin typeface="Times New Roman"/>
                <a:cs typeface="Times New Roman"/>
              </a:rPr>
              <a:t>,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         NHR, HNR,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         RPDE, DFA, spread1, spread2, D2, PPE]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RETURN features, </a:t>
            </a:r>
            <a:r>
              <a:rPr lang="en-US" sz="1100" dirty="0" err="1">
                <a:latin typeface="Times New Roman"/>
                <a:cs typeface="Times New Roman"/>
              </a:rPr>
              <a:t>feature_dict</a:t>
            </a:r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b="1" dirty="0">
                <a:latin typeface="Times New Roman"/>
                <a:cs typeface="Times New Roman"/>
              </a:rPr>
              <a:t>END FUNCTION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b="1" dirty="0">
                <a:latin typeface="Times New Roman"/>
              </a:rPr>
              <a:t>MODULE 3: MODEL TRAINING</a:t>
            </a:r>
          </a:p>
          <a:p>
            <a:r>
              <a:rPr lang="en-US" sz="1100" b="1" dirty="0">
                <a:latin typeface="Times New Roman"/>
              </a:rPr>
              <a:t>FUNCTION</a:t>
            </a:r>
            <a:r>
              <a:rPr lang="en-US" sz="1100" dirty="0">
                <a:latin typeface="Times New Roman"/>
              </a:rPr>
              <a:t> </a:t>
            </a:r>
            <a:r>
              <a:rPr lang="en-US" sz="1100" dirty="0" err="1">
                <a:latin typeface="Times New Roman"/>
              </a:rPr>
              <a:t>train_model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model_type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scaler_type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use_pca,n_components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use_smote</a:t>
            </a:r>
            <a:r>
              <a:rPr lang="en-US" sz="1100" dirty="0">
                <a:latin typeface="Times New Roman"/>
              </a:rPr>
              <a:t>):</a:t>
            </a:r>
          </a:p>
          <a:p>
            <a:r>
              <a:rPr lang="en-US" sz="1100" dirty="0">
                <a:latin typeface="Times New Roman"/>
              </a:rPr>
              <a:t>    INPUT: model configuration parameters</a:t>
            </a:r>
          </a:p>
          <a:p>
            <a:r>
              <a:rPr lang="en-US" sz="1100" dirty="0">
                <a:latin typeface="Times New Roman"/>
              </a:rPr>
              <a:t>    OUTPUT: </a:t>
            </a:r>
            <a:r>
              <a:rPr lang="en-US" sz="1100" dirty="0" err="1">
                <a:latin typeface="Times New Roman"/>
              </a:rPr>
              <a:t>trained_model</a:t>
            </a:r>
            <a:r>
              <a:rPr lang="en-US" sz="1100" dirty="0">
                <a:latin typeface="Times New Roman"/>
              </a:rPr>
              <a:t>, scaler, </a:t>
            </a:r>
            <a:r>
              <a:rPr lang="en-US" sz="1100" dirty="0" err="1">
                <a:latin typeface="Times New Roman"/>
              </a:rPr>
              <a:t>pca</a:t>
            </a:r>
            <a:r>
              <a:rPr lang="en-US" sz="1100" dirty="0">
                <a:latin typeface="Times New Roman"/>
              </a:rPr>
              <a:t>, results</a:t>
            </a:r>
          </a:p>
          <a:p>
            <a:r>
              <a:rPr lang="en-US" sz="1100" dirty="0">
                <a:latin typeface="Times New Roman"/>
              </a:rPr>
              <a:t> </a:t>
            </a:r>
            <a:r>
              <a:rPr lang="en-US" sz="1100" b="1" dirty="0">
                <a:latin typeface="Times New Roman"/>
              </a:rPr>
              <a:t>   </a:t>
            </a:r>
          </a:p>
          <a:p>
            <a:r>
              <a:rPr lang="en-US" sz="1100" b="1" dirty="0">
                <a:latin typeface="Times New Roman"/>
              </a:rPr>
              <a:t>    // 1. LOAD DATA</a:t>
            </a:r>
          </a:p>
          <a:p>
            <a:r>
              <a:rPr lang="en-US" sz="1100" dirty="0">
                <a:latin typeface="Times New Roman"/>
              </a:rPr>
              <a:t>    data ← READ_CSV(DATA_FILE)</a:t>
            </a:r>
          </a:p>
          <a:p>
            <a:r>
              <a:rPr lang="en-US" sz="1100" dirty="0">
                <a:latin typeface="Times New Roman"/>
              </a:rPr>
              <a:t>    X ← data[features]  // 22 features</a:t>
            </a:r>
          </a:p>
          <a:p>
            <a:r>
              <a:rPr lang="en-US" sz="1100" dirty="0">
                <a:latin typeface="Times New Roman"/>
              </a:rPr>
              <a:t>    y ← data[status]    // 0=Healthy, 1=PD</a:t>
            </a:r>
            <a:endParaRPr lang="en-US" dirty="0">
              <a:latin typeface="Times New Roman"/>
            </a:endParaRPr>
          </a:p>
          <a:p>
            <a:endParaRPr lang="en-US" sz="1100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F8551-8CBE-981F-8C6A-D2A18285ECB1}"/>
              </a:ext>
            </a:extLst>
          </p:cNvPr>
          <p:cNvSpPr txBox="1"/>
          <p:nvPr/>
        </p:nvSpPr>
        <p:spPr>
          <a:xfrm>
            <a:off x="4149861" y="173037"/>
            <a:ext cx="4735575" cy="6863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2. SPLIT DATA (70% train, 30% test, stratified)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X_train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X_test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y_train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y_test</a:t>
            </a:r>
            <a:r>
              <a:rPr lang="en-US" sz="1100" dirty="0">
                <a:latin typeface="Times New Roman"/>
              </a:rPr>
              <a:t> ← SPLIT(X, y, 0.3, stratified=TRUE)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dirty="0">
                <a:latin typeface="Times New Roman"/>
              </a:rPr>
              <a:t>   </a:t>
            </a:r>
            <a:r>
              <a:rPr lang="en-US" sz="1100" b="1" dirty="0">
                <a:latin typeface="Times New Roman"/>
              </a:rPr>
              <a:t> // 3. SCALE FEATURES ( choose from 6 different types)</a:t>
            </a:r>
          </a:p>
          <a:p>
            <a:r>
              <a:rPr lang="en-US" sz="1100" dirty="0">
                <a:latin typeface="Times New Roman"/>
              </a:rPr>
              <a:t>    scaler ← CREATE_SCALER(</a:t>
            </a:r>
            <a:r>
              <a:rPr lang="en-US" sz="1100" dirty="0" err="1">
                <a:latin typeface="Times New Roman"/>
              </a:rPr>
              <a:t>scaler_type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scaler.FIT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X_train_scaled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scaler.TRANSFORM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X_test_scaled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scaler.TRANSFORM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X_test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4. APPLY SMOTE (optional)</a:t>
            </a:r>
          </a:p>
          <a:p>
            <a:r>
              <a:rPr lang="en-US" sz="1100" dirty="0">
                <a:latin typeface="Times New Roman"/>
              </a:rPr>
              <a:t>    IF </a:t>
            </a:r>
            <a:r>
              <a:rPr lang="en-US" sz="1100" dirty="0" err="1">
                <a:latin typeface="Times New Roman"/>
              </a:rPr>
              <a:t>use_smote</a:t>
            </a:r>
            <a:r>
              <a:rPr lang="en-US" sz="1100" dirty="0">
                <a:latin typeface="Times New Roman"/>
              </a:rPr>
              <a:t> THEN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X_train_scaled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y_train</a:t>
            </a:r>
            <a:r>
              <a:rPr lang="en-US" sz="1100" dirty="0">
                <a:latin typeface="Times New Roman"/>
              </a:rPr>
              <a:t> ← SMOTE(</a:t>
            </a:r>
            <a:r>
              <a:rPr lang="en-US" sz="1100" dirty="0" err="1">
                <a:latin typeface="Times New Roman"/>
              </a:rPr>
              <a:t>X_train_scaled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y_train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5. APPLY PCA (optional)</a:t>
            </a:r>
          </a:p>
          <a:p>
            <a:r>
              <a:rPr lang="en-US" sz="1100" dirty="0">
                <a:latin typeface="Times New Roman"/>
              </a:rPr>
              <a:t>    IF </a:t>
            </a:r>
            <a:r>
              <a:rPr lang="en-US" sz="1100" dirty="0" err="1">
                <a:latin typeface="Times New Roman"/>
              </a:rPr>
              <a:t>use_pca</a:t>
            </a:r>
            <a:r>
              <a:rPr lang="en-US" sz="1100" dirty="0">
                <a:latin typeface="Times New Roman"/>
              </a:rPr>
              <a:t> THEN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pca</a:t>
            </a:r>
            <a:r>
              <a:rPr lang="en-US" sz="1100" dirty="0">
                <a:latin typeface="Times New Roman"/>
              </a:rPr>
              <a:t> ← PCA(</a:t>
            </a:r>
            <a:r>
              <a:rPr lang="en-US" sz="1100" dirty="0" err="1">
                <a:latin typeface="Times New Roman"/>
              </a:rPr>
              <a:t>n_components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pca.FIT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X_train_scaled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X_train_final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pca.TRANSFORM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X_train_scaled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X_test_final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pca.TRANSFORM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X_test_scaled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ELSE</a:t>
            </a: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X_train_final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X_train_scaled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     </a:t>
            </a:r>
            <a:r>
              <a:rPr lang="en-US" sz="1100" dirty="0" err="1">
                <a:latin typeface="Times New Roman"/>
              </a:rPr>
              <a:t>X_test_final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X_test_scaled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dirty="0">
                <a:latin typeface="Times New Roman"/>
              </a:rPr>
              <a:t>   </a:t>
            </a:r>
            <a:r>
              <a:rPr lang="en-US" sz="1100" b="1" dirty="0">
                <a:latin typeface="Times New Roman"/>
              </a:rPr>
              <a:t> // 6. HYPERPARAMETER TUNING (Grid Search + 5-Fold CV)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param_grid</a:t>
            </a:r>
            <a:r>
              <a:rPr lang="en-US" sz="1100" dirty="0">
                <a:latin typeface="Times New Roman"/>
              </a:rPr>
              <a:t> ← GET_PARAM_GRID(</a:t>
            </a:r>
            <a:r>
              <a:rPr lang="en-US" sz="1100" dirty="0" err="1">
                <a:latin typeface="Times New Roman"/>
              </a:rPr>
              <a:t>model_type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grid_search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GridSearchCV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model_type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param_grid</a:t>
            </a:r>
            <a:r>
              <a:rPr lang="en-US" sz="1100" dirty="0">
                <a:latin typeface="Times New Roman"/>
              </a:rPr>
              <a:t>, cv=5)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grid_search.FIT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X_train_final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y_train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best_model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grid_search.best_estimator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</a:t>
            </a:r>
          </a:p>
          <a:p>
            <a:r>
              <a:rPr lang="en-US" sz="1100" b="1" dirty="0">
                <a:latin typeface="Times New Roman"/>
              </a:rPr>
              <a:t>    // 7. EVALUATE MODEL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y_train_pred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best_model.PREDICT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X_train_final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y_test_pred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best_model.PREDICT</a:t>
            </a:r>
            <a:r>
              <a:rPr lang="en-US" sz="1100" dirty="0">
                <a:latin typeface="Times New Roman"/>
              </a:rPr>
              <a:t>(</a:t>
            </a:r>
            <a:r>
              <a:rPr lang="en-US" sz="1100" dirty="0" err="1">
                <a:latin typeface="Times New Roman"/>
              </a:rPr>
              <a:t>X_test_final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train_accuracy</a:t>
            </a:r>
            <a:r>
              <a:rPr lang="en-US" sz="1100" dirty="0">
                <a:latin typeface="Times New Roman"/>
              </a:rPr>
              <a:t> ← ACCURACY(</a:t>
            </a:r>
            <a:r>
              <a:rPr lang="en-US" sz="1100" dirty="0" err="1">
                <a:latin typeface="Times New Roman"/>
              </a:rPr>
              <a:t>y_train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y_train_pred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test_accuracy</a:t>
            </a:r>
            <a:r>
              <a:rPr lang="en-US" sz="1100" dirty="0">
                <a:latin typeface="Times New Roman"/>
              </a:rPr>
              <a:t> ← ACCURACY(</a:t>
            </a:r>
            <a:r>
              <a:rPr lang="en-US" sz="1100" dirty="0" err="1">
                <a:latin typeface="Times New Roman"/>
              </a:rPr>
              <a:t>y_test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y_test_pred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overfitting_gap</a:t>
            </a:r>
            <a:r>
              <a:rPr lang="en-US" sz="1100" dirty="0">
                <a:latin typeface="Times New Roman"/>
              </a:rPr>
              <a:t> ← </a:t>
            </a:r>
            <a:r>
              <a:rPr lang="en-US" sz="1100" dirty="0" err="1">
                <a:latin typeface="Times New Roman"/>
              </a:rPr>
              <a:t>train_accuracy</a:t>
            </a:r>
            <a:r>
              <a:rPr lang="en-US" sz="1100" dirty="0">
                <a:latin typeface="Times New Roman"/>
              </a:rPr>
              <a:t> - </a:t>
            </a:r>
            <a:r>
              <a:rPr lang="en-US" sz="1100" dirty="0" err="1">
                <a:latin typeface="Times New Roman"/>
              </a:rPr>
              <a:t>test_accuracy</a:t>
            </a:r>
            <a:endParaRPr lang="en-US" sz="1100" dirty="0">
              <a:latin typeface="Times New Roman"/>
            </a:endParaRPr>
          </a:p>
          <a:p>
            <a:r>
              <a:rPr lang="en-US" sz="1100" dirty="0">
                <a:latin typeface="Times New Roman"/>
              </a:rPr>
              <a:t>    </a:t>
            </a:r>
            <a:r>
              <a:rPr lang="en-US" sz="1100" dirty="0" err="1">
                <a:latin typeface="Times New Roman"/>
              </a:rPr>
              <a:t>confusion_matrix</a:t>
            </a:r>
            <a:r>
              <a:rPr lang="en-US" sz="1100" dirty="0">
                <a:latin typeface="Times New Roman"/>
              </a:rPr>
              <a:t> ← CONFUSION_MATRIX(</a:t>
            </a:r>
            <a:r>
              <a:rPr lang="en-US" sz="1100" dirty="0" err="1">
                <a:latin typeface="Times New Roman"/>
              </a:rPr>
              <a:t>y_test</a:t>
            </a:r>
            <a:r>
              <a:rPr lang="en-US" sz="1100" dirty="0">
                <a:latin typeface="Times New Roman"/>
              </a:rPr>
              <a:t>, </a:t>
            </a:r>
            <a:r>
              <a:rPr lang="en-US" sz="1100" dirty="0" err="1">
                <a:latin typeface="Times New Roman"/>
              </a:rPr>
              <a:t>y_test_pred</a:t>
            </a:r>
            <a:r>
              <a:rPr lang="en-US" sz="1100" dirty="0">
                <a:latin typeface="Times New Roman"/>
              </a:rPr>
              <a:t>)</a:t>
            </a:r>
          </a:p>
          <a:p>
            <a:r>
              <a:rPr lang="en-US" sz="1100" dirty="0">
                <a:latin typeface="Times New Roman"/>
              </a:rPr>
              <a:t>    ( f1, recall matrix missing)</a:t>
            </a:r>
          </a:p>
          <a:p>
            <a:r>
              <a:rPr lang="en-US" sz="1100" dirty="0">
                <a:latin typeface="Times New Roman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2587048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FD2FD2-B9AD-6E87-63EA-B77F6DF6A389}"/>
              </a:ext>
            </a:extLst>
          </p:cNvPr>
          <p:cNvSpPr txBox="1"/>
          <p:nvPr/>
        </p:nvSpPr>
        <p:spPr>
          <a:xfrm>
            <a:off x="205628" y="1347335"/>
            <a:ext cx="4222537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Times New Roman"/>
                <a:cs typeface="Times New Roman"/>
              </a:rPr>
              <a:t>  // 8. SAVE MODEL ARTIFACTS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SAVE(</a:t>
            </a:r>
            <a:r>
              <a:rPr lang="en-US" sz="1100" dirty="0" err="1">
                <a:latin typeface="Times New Roman"/>
                <a:cs typeface="Times New Roman"/>
              </a:rPr>
              <a:t>best_model</a:t>
            </a:r>
            <a:r>
              <a:rPr lang="en-US" sz="1100" dirty="0">
                <a:latin typeface="Times New Roman"/>
                <a:cs typeface="Times New Roman"/>
              </a:rPr>
              <a:t>, "</a:t>
            </a:r>
            <a:r>
              <a:rPr lang="en-US" sz="1100" dirty="0" err="1">
                <a:latin typeface="Times New Roman"/>
                <a:cs typeface="Times New Roman"/>
              </a:rPr>
              <a:t>model.pkl</a:t>
            </a:r>
            <a:r>
              <a:rPr lang="en-US" sz="1100" dirty="0">
                <a:latin typeface="Times New Roman"/>
                <a:cs typeface="Times New Roman"/>
              </a:rPr>
              <a:t>")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SAVE(scaler, "</a:t>
            </a:r>
            <a:r>
              <a:rPr lang="en-US" sz="1100" dirty="0" err="1">
                <a:latin typeface="Times New Roman"/>
                <a:cs typeface="Times New Roman"/>
              </a:rPr>
              <a:t>scaler.pkl</a:t>
            </a:r>
            <a:r>
              <a:rPr lang="en-US" sz="1100" dirty="0">
                <a:latin typeface="Times New Roman"/>
                <a:cs typeface="Times New Roman"/>
              </a:rPr>
              <a:t>")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IF </a:t>
            </a:r>
            <a:r>
              <a:rPr lang="en-US" sz="1100" dirty="0" err="1">
                <a:latin typeface="Times New Roman"/>
                <a:cs typeface="Times New Roman"/>
              </a:rPr>
              <a:t>use_pca</a:t>
            </a:r>
            <a:r>
              <a:rPr lang="en-US" sz="1100" dirty="0">
                <a:latin typeface="Times New Roman"/>
                <a:cs typeface="Times New Roman"/>
              </a:rPr>
              <a:t> THEN SAVE(</a:t>
            </a:r>
            <a:r>
              <a:rPr lang="en-US" sz="1100" dirty="0" err="1">
                <a:latin typeface="Times New Roman"/>
                <a:cs typeface="Times New Roman"/>
              </a:rPr>
              <a:t>pca</a:t>
            </a:r>
            <a:r>
              <a:rPr lang="en-US" sz="1100" dirty="0">
                <a:latin typeface="Times New Roman"/>
                <a:cs typeface="Times New Roman"/>
              </a:rPr>
              <a:t>, "</a:t>
            </a:r>
            <a:r>
              <a:rPr lang="en-US" sz="1100" dirty="0" err="1">
                <a:latin typeface="Times New Roman"/>
                <a:cs typeface="Times New Roman"/>
              </a:rPr>
              <a:t>pca.pkl</a:t>
            </a:r>
            <a:r>
              <a:rPr lang="en-US" sz="1100" dirty="0">
                <a:latin typeface="Times New Roman"/>
                <a:cs typeface="Times New Roman"/>
              </a:rPr>
              <a:t>")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results ← {</a:t>
            </a:r>
            <a:r>
              <a:rPr lang="en-US" sz="1100" dirty="0" err="1">
                <a:latin typeface="Times New Roman"/>
                <a:cs typeface="Times New Roman"/>
              </a:rPr>
              <a:t>train_acc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test_acc</a:t>
            </a:r>
            <a:r>
              <a:rPr lang="en-US" sz="1100" dirty="0">
                <a:latin typeface="Times New Roman"/>
                <a:cs typeface="Times New Roman"/>
              </a:rPr>
              <a:t>, gap, </a:t>
            </a:r>
            <a:r>
              <a:rPr lang="en-US" sz="1100" dirty="0" err="1">
                <a:latin typeface="Times New Roman"/>
                <a:cs typeface="Times New Roman"/>
              </a:rPr>
              <a:t>confusion_matrix</a:t>
            </a:r>
            <a:r>
              <a:rPr lang="en-US" sz="1100" dirty="0">
                <a:latin typeface="Times New Roman"/>
                <a:cs typeface="Times New Roman"/>
              </a:rPr>
              <a:t>, </a:t>
            </a:r>
            <a:r>
              <a:rPr lang="en-US" sz="1100" dirty="0" err="1">
                <a:latin typeface="Times New Roman"/>
                <a:cs typeface="Times New Roman"/>
              </a:rPr>
              <a:t>params,accuracy_matrices</a:t>
            </a:r>
            <a:r>
              <a:rPr lang="en-US" sz="1100" dirty="0">
                <a:latin typeface="Times New Roman"/>
                <a:cs typeface="Times New Roman"/>
              </a:rPr>
              <a:t>}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RETURN </a:t>
            </a:r>
            <a:r>
              <a:rPr lang="en-US" sz="1100" dirty="0" err="1">
                <a:latin typeface="Times New Roman"/>
                <a:cs typeface="Times New Roman"/>
              </a:rPr>
              <a:t>best_model</a:t>
            </a:r>
            <a:r>
              <a:rPr lang="en-US" sz="1100" dirty="0">
                <a:latin typeface="Times New Roman"/>
                <a:cs typeface="Times New Roman"/>
              </a:rPr>
              <a:t>, scaler, </a:t>
            </a:r>
            <a:r>
              <a:rPr lang="en-US" sz="1100" dirty="0" err="1">
                <a:latin typeface="Times New Roman"/>
                <a:cs typeface="Times New Roman"/>
              </a:rPr>
              <a:t>pca</a:t>
            </a:r>
            <a:r>
              <a:rPr lang="en-US" sz="1100" dirty="0">
                <a:latin typeface="Times New Roman"/>
                <a:cs typeface="Times New Roman"/>
              </a:rPr>
              <a:t>, results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END FUNCTION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b="1" dirty="0">
                <a:latin typeface="Times New Roman"/>
                <a:cs typeface="Times New Roman"/>
              </a:rPr>
              <a:t>MODULE 4: REAL-TIME PREDICTION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b="1" dirty="0">
                <a:latin typeface="Times New Roman"/>
                <a:cs typeface="Times New Roman"/>
              </a:rPr>
              <a:t>FUNCTION</a:t>
            </a:r>
            <a:r>
              <a:rPr lang="en-US" sz="1100" dirty="0">
                <a:latin typeface="Times New Roman"/>
                <a:cs typeface="Times New Roman"/>
              </a:rPr>
              <a:t> </a:t>
            </a:r>
            <a:r>
              <a:rPr lang="en-US" sz="1100" dirty="0" err="1">
                <a:latin typeface="Times New Roman"/>
                <a:cs typeface="Times New Roman"/>
              </a:rPr>
              <a:t>predict_parkinson</a:t>
            </a:r>
            <a:r>
              <a:rPr lang="en-US" sz="1100" dirty="0">
                <a:latin typeface="Times New Roman"/>
                <a:cs typeface="Times New Roman"/>
              </a:rPr>
              <a:t>(</a:t>
            </a:r>
            <a:r>
              <a:rPr lang="en-US" sz="1100" dirty="0" err="1">
                <a:latin typeface="Times New Roman"/>
                <a:cs typeface="Times New Roman"/>
              </a:rPr>
              <a:t>audio_file</a:t>
            </a:r>
            <a:r>
              <a:rPr lang="en-US" sz="1100" dirty="0">
                <a:latin typeface="Times New Roman"/>
                <a:cs typeface="Times New Roman"/>
              </a:rPr>
              <a:t>):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INPUT: </a:t>
            </a:r>
            <a:r>
              <a:rPr lang="en-US" sz="1100" dirty="0" err="1">
                <a:latin typeface="Times New Roman"/>
                <a:cs typeface="Times New Roman"/>
              </a:rPr>
              <a:t>audio_file</a:t>
            </a:r>
            <a:r>
              <a:rPr lang="en-US" sz="1100" dirty="0">
                <a:latin typeface="Times New Roman"/>
                <a:cs typeface="Times New Roman"/>
              </a:rPr>
              <a:t> (recorded or uploaded)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OUTPUT: diagnosis, confidence, features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 // 1. EXTRACT FEATURES</a:t>
            </a:r>
            <a:endParaRPr lang="en-US" b="1" dirty="0"/>
          </a:p>
          <a:p>
            <a:r>
              <a:rPr lang="en-US" sz="1100" dirty="0">
                <a:latin typeface="Times New Roman"/>
                <a:cs typeface="Times New Roman"/>
              </a:rPr>
              <a:t>    features ← </a:t>
            </a:r>
            <a:r>
              <a:rPr lang="en-US" sz="1100" dirty="0" err="1">
                <a:latin typeface="Times New Roman"/>
                <a:cs typeface="Times New Roman"/>
              </a:rPr>
              <a:t>extract_features</a:t>
            </a:r>
            <a:r>
              <a:rPr lang="en-US" sz="1100" dirty="0">
                <a:latin typeface="Times New Roman"/>
                <a:cs typeface="Times New Roman"/>
              </a:rPr>
              <a:t>(</a:t>
            </a:r>
            <a:r>
              <a:rPr lang="en-US" sz="1100" dirty="0" err="1">
                <a:latin typeface="Times New Roman"/>
                <a:cs typeface="Times New Roman"/>
              </a:rPr>
              <a:t>audio_file</a:t>
            </a:r>
            <a:r>
              <a:rPr lang="en-US" sz="1100" dirty="0">
                <a:latin typeface="Times New Roman"/>
                <a:cs typeface="Times New Roman"/>
              </a:rPr>
              <a:t>)  // Get 22 features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 // 2. LOAD TRAINED ARTIFACTS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model ← LOAD("</a:t>
            </a:r>
            <a:r>
              <a:rPr lang="en-US" sz="1100" dirty="0" err="1">
                <a:latin typeface="Times New Roman"/>
                <a:cs typeface="Times New Roman"/>
              </a:rPr>
              <a:t>model.pkl</a:t>
            </a:r>
            <a:r>
              <a:rPr lang="en-US" sz="1100" dirty="0">
                <a:latin typeface="Times New Roman"/>
                <a:cs typeface="Times New Roman"/>
              </a:rPr>
              <a:t>")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scaler ← LOAD("</a:t>
            </a:r>
            <a:r>
              <a:rPr lang="en-US" sz="1100" dirty="0" err="1">
                <a:latin typeface="Times New Roman"/>
                <a:cs typeface="Times New Roman"/>
              </a:rPr>
              <a:t>scaler.pkl</a:t>
            </a:r>
            <a:r>
              <a:rPr lang="en-US" sz="1100" dirty="0">
                <a:latin typeface="Times New Roman"/>
                <a:cs typeface="Times New Roman"/>
              </a:rPr>
              <a:t>")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</a:t>
            </a:r>
            <a:r>
              <a:rPr lang="en-US" sz="1100" dirty="0" err="1">
                <a:latin typeface="Times New Roman"/>
                <a:cs typeface="Times New Roman"/>
              </a:rPr>
              <a:t>pca</a:t>
            </a:r>
            <a:r>
              <a:rPr lang="en-US" sz="1100" dirty="0">
                <a:latin typeface="Times New Roman"/>
                <a:cs typeface="Times New Roman"/>
              </a:rPr>
              <a:t> ← LOAD("</a:t>
            </a:r>
            <a:r>
              <a:rPr lang="en-US" sz="1100" dirty="0" err="1">
                <a:latin typeface="Times New Roman"/>
                <a:cs typeface="Times New Roman"/>
              </a:rPr>
              <a:t>pca.pkl</a:t>
            </a:r>
            <a:r>
              <a:rPr lang="en-US" sz="1100" dirty="0">
                <a:latin typeface="Times New Roman"/>
                <a:cs typeface="Times New Roman"/>
              </a:rPr>
              <a:t>") IF exists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</a:t>
            </a:r>
            <a:r>
              <a:rPr lang="en-US" sz="1100" b="1" dirty="0">
                <a:latin typeface="Times New Roman"/>
                <a:cs typeface="Times New Roman"/>
              </a:rPr>
              <a:t>   // 3. SCALE FEATURES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</a:t>
            </a:r>
            <a:r>
              <a:rPr lang="en-US" sz="1100" dirty="0" err="1">
                <a:latin typeface="Times New Roman"/>
                <a:cs typeface="Times New Roman"/>
              </a:rPr>
              <a:t>features_scaled</a:t>
            </a:r>
            <a:r>
              <a:rPr lang="en-US" sz="1100" dirty="0">
                <a:latin typeface="Times New Roman"/>
                <a:cs typeface="Times New Roman"/>
              </a:rPr>
              <a:t> ← </a:t>
            </a:r>
            <a:r>
              <a:rPr lang="en-US" sz="1100" dirty="0" err="1">
                <a:latin typeface="Times New Roman"/>
                <a:cs typeface="Times New Roman"/>
              </a:rPr>
              <a:t>scaler.TRANSFORM</a:t>
            </a:r>
            <a:r>
              <a:rPr lang="en-US" sz="1100" dirty="0">
                <a:latin typeface="Times New Roman"/>
                <a:cs typeface="Times New Roman"/>
              </a:rPr>
              <a:t>(features)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b="1" dirty="0">
                <a:latin typeface="Times New Roman"/>
                <a:cs typeface="Times New Roman"/>
              </a:rPr>
              <a:t>    // 4. APPLY PCA (if model uses it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IF </a:t>
            </a:r>
            <a:r>
              <a:rPr lang="en-US" sz="1100" dirty="0" err="1">
                <a:latin typeface="Times New Roman"/>
                <a:cs typeface="Times New Roman"/>
              </a:rPr>
              <a:t>pca</a:t>
            </a:r>
            <a:r>
              <a:rPr lang="en-US" sz="1100" dirty="0">
                <a:latin typeface="Times New Roman"/>
                <a:cs typeface="Times New Roman"/>
              </a:rPr>
              <a:t> exists THEN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    </a:t>
            </a:r>
            <a:r>
              <a:rPr lang="en-US" sz="1100" dirty="0" err="1">
                <a:latin typeface="Times New Roman"/>
                <a:cs typeface="Times New Roman"/>
              </a:rPr>
              <a:t>features_scaled</a:t>
            </a:r>
            <a:r>
              <a:rPr lang="en-US" sz="1100" dirty="0">
                <a:latin typeface="Times New Roman"/>
                <a:cs typeface="Times New Roman"/>
              </a:rPr>
              <a:t> ← </a:t>
            </a:r>
            <a:r>
              <a:rPr lang="en-US" sz="1100" dirty="0" err="1">
                <a:latin typeface="Times New Roman"/>
                <a:cs typeface="Times New Roman"/>
              </a:rPr>
              <a:t>pca.TRANSFORM</a:t>
            </a:r>
            <a:r>
              <a:rPr lang="en-US" sz="1100" dirty="0">
                <a:latin typeface="Times New Roman"/>
                <a:cs typeface="Times New Roman"/>
              </a:rPr>
              <a:t>(</a:t>
            </a:r>
            <a:r>
              <a:rPr lang="en-US" sz="1100" dirty="0" err="1">
                <a:latin typeface="Times New Roman"/>
                <a:cs typeface="Times New Roman"/>
              </a:rPr>
              <a:t>features_scaled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 </a:t>
            </a:r>
          </a:p>
          <a:p>
            <a:r>
              <a:rPr lang="en-US" sz="1100" dirty="0">
                <a:latin typeface="Times New Roman"/>
                <a:cs typeface="Times New Roman"/>
              </a:rPr>
              <a:t>  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6214-D0E3-925E-B0F4-FCDCD4121919}"/>
              </a:ext>
            </a:extLst>
          </p:cNvPr>
          <p:cNvSpPr txBox="1"/>
          <p:nvPr/>
        </p:nvSpPr>
        <p:spPr>
          <a:xfrm>
            <a:off x="4982710" y="1349351"/>
            <a:ext cx="3693379" cy="3062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latin typeface="Times New Roman"/>
                <a:cs typeface="Times New Roman"/>
              </a:rPr>
              <a:t>// 5. PREDICT</a:t>
            </a:r>
          </a:p>
          <a:p>
            <a:r>
              <a:rPr lang="en-US" sz="1100">
                <a:latin typeface="Times New Roman"/>
                <a:cs typeface="Times New Roman"/>
              </a:rPr>
              <a:t>    prediction ← model.PREDICT(features_scaled)  // 0 or 1</a:t>
            </a:r>
          </a:p>
          <a:p>
            <a:r>
              <a:rPr lang="en-US" sz="1100">
                <a:latin typeface="Times New Roman"/>
                <a:cs typeface="Times New Roman"/>
              </a:rPr>
              <a:t>    probabilities ← model.PREDICT_PROBA(features_scaled)  // [P(0), P(1)]</a:t>
            </a:r>
          </a:p>
          <a:p>
            <a:r>
              <a:rPr lang="en-US" sz="1100">
                <a:latin typeface="Times New Roman"/>
                <a:cs typeface="Times New Roman"/>
              </a:rPr>
              <a:t>    </a:t>
            </a:r>
          </a:p>
          <a:p>
            <a:r>
              <a:rPr lang="en-US" sz="1100">
                <a:latin typeface="Times New Roman"/>
                <a:cs typeface="Times New Roman"/>
              </a:rPr>
              <a:t> </a:t>
            </a:r>
            <a:r>
              <a:rPr lang="en-US" sz="1100" b="1">
                <a:latin typeface="Times New Roman"/>
                <a:cs typeface="Times New Roman"/>
              </a:rPr>
              <a:t>   // 6. INTERPRET RESULTS</a:t>
            </a:r>
          </a:p>
          <a:p>
            <a:r>
              <a:rPr lang="en-US" sz="1100">
                <a:latin typeface="Times New Roman"/>
                <a:cs typeface="Times New Roman"/>
              </a:rPr>
              <a:t>    IF prediction == 1 THEN</a:t>
            </a:r>
          </a:p>
          <a:p>
            <a:r>
              <a:rPr lang="en-US" sz="1100">
                <a:latin typeface="Times New Roman"/>
                <a:cs typeface="Times New Roman"/>
              </a:rPr>
              <a:t>        diagnosis ← "Parkinson's Disease Detected"</a:t>
            </a:r>
          </a:p>
          <a:p>
            <a:r>
              <a:rPr lang="en-US" sz="1100">
                <a:latin typeface="Times New Roman"/>
                <a:cs typeface="Times New Roman"/>
              </a:rPr>
              <a:t>        confidence ← probabilities[1] × 100</a:t>
            </a:r>
          </a:p>
          <a:p>
            <a:r>
              <a:rPr lang="en-US" sz="1100">
                <a:latin typeface="Times New Roman"/>
                <a:cs typeface="Times New Roman"/>
              </a:rPr>
              <a:t>    ELSE</a:t>
            </a:r>
          </a:p>
          <a:p>
            <a:r>
              <a:rPr lang="en-US" sz="1100">
                <a:latin typeface="Times New Roman"/>
                <a:cs typeface="Times New Roman"/>
              </a:rPr>
              <a:t>        diagnosis ← "Healthy"</a:t>
            </a:r>
          </a:p>
          <a:p>
            <a:r>
              <a:rPr lang="en-US" sz="1100">
                <a:latin typeface="Times New Roman"/>
                <a:cs typeface="Times New Roman"/>
              </a:rPr>
              <a:t>        confidence ← probabilities[0] × 100</a:t>
            </a:r>
          </a:p>
          <a:p>
            <a:r>
              <a:rPr lang="en-US" sz="1100">
                <a:latin typeface="Times New Roman"/>
                <a:cs typeface="Times New Roman"/>
              </a:rPr>
              <a:t>    </a:t>
            </a:r>
          </a:p>
          <a:p>
            <a:r>
              <a:rPr lang="en-US" sz="1100">
                <a:latin typeface="Times New Roman"/>
                <a:cs typeface="Times New Roman"/>
              </a:rPr>
              <a:t>    RETURN diagnosis, confidence, probabilities</a:t>
            </a:r>
          </a:p>
          <a:p>
            <a:r>
              <a:rPr lang="en-US" sz="1100" b="1">
                <a:latin typeface="Times New Roman"/>
                <a:cs typeface="Times New Roman"/>
              </a:rPr>
              <a:t>END FUNCTION</a:t>
            </a:r>
          </a:p>
          <a:p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86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9D0E6D-08AF-83F8-7ADF-BCACDD7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3449"/>
            <a:ext cx="8520600" cy="599397"/>
          </a:xfrm>
        </p:spPr>
        <p:txBody>
          <a:bodyPr>
            <a:normAutofit/>
          </a:bodyPr>
          <a:lstStyle/>
          <a:p>
            <a:r>
              <a:rPr lang="en-GB" sz="2300" b="1">
                <a:latin typeface="Times New Roman"/>
                <a:cs typeface="Times New Roman"/>
              </a:rPr>
              <a:t>RESULTS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9971F-A52A-15A6-1389-85EDB9F9449F}"/>
              </a:ext>
            </a:extLst>
          </p:cNvPr>
          <p:cNvSpPr txBox="1"/>
          <p:nvPr/>
        </p:nvSpPr>
        <p:spPr>
          <a:xfrm>
            <a:off x="3749409" y="897417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1: home page 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8876E9-349D-6813-CB84-D4CD155E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" r="124" b="329"/>
          <a:stretch>
            <a:fillRect/>
          </a:stretch>
        </p:blipFill>
        <p:spPr>
          <a:xfrm>
            <a:off x="79256" y="1212361"/>
            <a:ext cx="8990679" cy="564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32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0F2648-FECF-0429-71A9-9191F252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283870"/>
            <a:ext cx="9132849" cy="6569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69D7B-561F-BF6B-1B30-044ABFD3EA03}"/>
              </a:ext>
            </a:extLst>
          </p:cNvPr>
          <p:cNvSpPr txBox="1"/>
          <p:nvPr/>
        </p:nvSpPr>
        <p:spPr>
          <a:xfrm>
            <a:off x="6306408" y="282823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1: after model training </a:t>
            </a:r>
          </a:p>
        </p:txBody>
      </p:sp>
    </p:spTree>
    <p:extLst>
      <p:ext uri="{BB962C8B-B14F-4D97-AF65-F5344CB8AC3E}">
        <p14:creationId xmlns:p14="http://schemas.microsoft.com/office/powerpoint/2010/main" val="1014488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F8B890-42C6-B683-EE25-6A3D2770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8"/>
            <a:ext cx="9144000" cy="6824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A4718B-2C3B-7C1B-08F2-23AA4BA4AB3C}"/>
              </a:ext>
            </a:extLst>
          </p:cNvPr>
          <p:cNvSpPr txBox="1"/>
          <p:nvPr/>
        </p:nvSpPr>
        <p:spPr>
          <a:xfrm>
            <a:off x="6411798" y="237398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1: accuracy table</a:t>
            </a:r>
          </a:p>
        </p:txBody>
      </p:sp>
    </p:spTree>
    <p:extLst>
      <p:ext uri="{BB962C8B-B14F-4D97-AF65-F5344CB8AC3E}">
        <p14:creationId xmlns:p14="http://schemas.microsoft.com/office/powerpoint/2010/main" val="2603194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693B9B-7C7F-52A7-CA3C-58C9BE8C7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913"/>
            <a:ext cx="9144000" cy="6494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CC4A6-C141-7CF7-7A23-28779C852A7D}"/>
              </a:ext>
            </a:extLst>
          </p:cNvPr>
          <p:cNvSpPr txBox="1"/>
          <p:nvPr/>
        </p:nvSpPr>
        <p:spPr>
          <a:xfrm>
            <a:off x="6006145" y="180986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2: recording a healthy voice</a:t>
            </a:r>
          </a:p>
        </p:txBody>
      </p:sp>
    </p:spTree>
    <p:extLst>
      <p:ext uri="{BB962C8B-B14F-4D97-AF65-F5344CB8AC3E}">
        <p14:creationId xmlns:p14="http://schemas.microsoft.com/office/powerpoint/2010/main" val="3959519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E9E3D9-6E3F-A7A1-A030-941B31AB7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03"/>
            <a:ext cx="9144000" cy="65491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6B5239-DAFC-F85B-87AD-2F5103C675EC}"/>
              </a:ext>
            </a:extLst>
          </p:cNvPr>
          <p:cNvSpPr txBox="1"/>
          <p:nvPr/>
        </p:nvSpPr>
        <p:spPr>
          <a:xfrm>
            <a:off x="5595627" y="158957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2: uploading PD patient's voice</a:t>
            </a:r>
          </a:p>
        </p:txBody>
      </p:sp>
    </p:spTree>
    <p:extLst>
      <p:ext uri="{BB962C8B-B14F-4D97-AF65-F5344CB8AC3E}">
        <p14:creationId xmlns:p14="http://schemas.microsoft.com/office/powerpoint/2010/main" val="2724157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25A511-BC1F-076B-A419-48A3BC14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" b="4734"/>
          <a:stretch>
            <a:fillRect/>
          </a:stretch>
        </p:blipFill>
        <p:spPr>
          <a:xfrm>
            <a:off x="108417" y="1070305"/>
            <a:ext cx="4459002" cy="540817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4BB21-637A-53D5-29F9-1A3611441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518" y="1941562"/>
            <a:ext cx="4267200" cy="4629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9C6219-B416-9610-83C8-6FE74C65F0C2}"/>
              </a:ext>
            </a:extLst>
          </p:cNvPr>
          <p:cNvSpPr txBox="1"/>
          <p:nvPr/>
        </p:nvSpPr>
        <p:spPr>
          <a:xfrm>
            <a:off x="2540963" y="686824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2: 22 extracted features from the voice </a:t>
            </a:r>
          </a:p>
        </p:txBody>
      </p:sp>
    </p:spTree>
    <p:extLst>
      <p:ext uri="{BB962C8B-B14F-4D97-AF65-F5344CB8AC3E}">
        <p14:creationId xmlns:p14="http://schemas.microsoft.com/office/powerpoint/2010/main" val="63761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7B9228-DA11-75A6-B946-EEE9336C4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5755"/>
            <a:ext cx="9144000" cy="5637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C7CBE3-4C20-A9A6-B110-0956CC91BDA4}"/>
              </a:ext>
            </a:extLst>
          </p:cNvPr>
          <p:cNvSpPr txBox="1"/>
          <p:nvPr/>
        </p:nvSpPr>
        <p:spPr>
          <a:xfrm>
            <a:off x="3274205" y="628729"/>
            <a:ext cx="70932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Tab 3: comparison of models </a:t>
            </a:r>
          </a:p>
        </p:txBody>
      </p:sp>
    </p:spTree>
    <p:extLst>
      <p:ext uri="{BB962C8B-B14F-4D97-AF65-F5344CB8AC3E}">
        <p14:creationId xmlns:p14="http://schemas.microsoft.com/office/powerpoint/2010/main" val="1930269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67C7FA-0120-851E-E5DE-320AE2D4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56686"/>
            <a:ext cx="8520600" cy="1065927"/>
          </a:xfrm>
        </p:spPr>
        <p:txBody>
          <a:bodyPr>
            <a:normAutofit/>
          </a:bodyPr>
          <a:lstStyle/>
          <a:p>
            <a:r>
              <a:rPr lang="en-GB" sz="2300" b="1"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0EE47A-5435-B7AC-D543-C43F65471474}"/>
              </a:ext>
            </a:extLst>
          </p:cNvPr>
          <p:cNvSpPr txBox="1"/>
          <p:nvPr/>
        </p:nvSpPr>
        <p:spPr>
          <a:xfrm>
            <a:off x="307731" y="1890346"/>
            <a:ext cx="8237837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The project demonstrates effective early detection of Parkinson’s Disease using voice-based biomedical features and machine learning.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A complete end-to-end pipeline was built, covering preprocessing, feature scaling, model training, evaluation, and real-time prediction.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Multiple ML models (SVM, Random Forest, KNN, 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XGBoost</a:t>
            </a: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, AdaBoost, ANN, Naïve Bayes) were tested to identify the best-performing classifier.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Dataset robustness was improved using optional SMOTE, PCA, and stratified splitting with standard evaluation metrics.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Training on the UCI dataset and testing on external audio samples increased real-world reliability.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A Streamlit app enables fast, user-friendly voice-based prediction.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pPr marL="228600" indent="-228600">
              <a:buFont typeface="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The system proves that voice biomarkers with ML offer a non-invasive, cost-effective method for early PD diagnosis and provides a strong base for future deep learning and clinical improvements.</a:t>
            </a:r>
            <a:br>
              <a:rPr lang="en-US" dirty="0">
                <a:latin typeface="Times New Roman"/>
                <a:ea typeface="Arial"/>
                <a:cs typeface="Arial"/>
              </a:rPr>
            </a:br>
            <a:endParaRPr lang="en-US" dirty="0">
              <a:solidFill>
                <a:schemeClr val="tx1"/>
              </a:solidFill>
              <a:latin typeface="Times New Roman"/>
              <a:ea typeface="Arial"/>
              <a:cs typeface="Arial"/>
            </a:endParaRPr>
          </a:p>
          <a:p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2063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28BA-4A36-42E3-D29A-A9696850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56686"/>
            <a:ext cx="8520600" cy="1065927"/>
          </a:xfrm>
        </p:spPr>
        <p:txBody>
          <a:bodyPr>
            <a:normAutofit/>
          </a:bodyPr>
          <a:lstStyle/>
          <a:p>
            <a:r>
              <a:rPr lang="en-GB" sz="2300" b="1">
                <a:latin typeface="Times New Roman"/>
                <a:cs typeface="Times New Roman"/>
              </a:rPr>
              <a:t>REFERENCES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08015-8839-F14B-4681-B3B2CA96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967523"/>
            <a:ext cx="8520600" cy="438181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dirty="0">
                <a:latin typeface="Times New Roman"/>
                <a:cs typeface="Times New Roman"/>
              </a:rPr>
              <a:t>[1] J. Kim et al., “Hybrid Preprocessing and Ensemble Classification for Parkinson’s Disease Detection,” 2025.</a:t>
            </a:r>
            <a:endParaRPr lang="en-US" dirty="0">
              <a:latin typeface="Times New Roman"/>
            </a:endParaRPr>
          </a:p>
          <a:p>
            <a:pPr algn="just">
              <a:lnSpc>
                <a:spcPct val="114999"/>
              </a:lnSpc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l">
              <a:lnSpc>
                <a:spcPct val="114999"/>
              </a:lnSpc>
            </a:pPr>
            <a:r>
              <a:rPr lang="en-US" dirty="0">
                <a:latin typeface="Times New Roman"/>
                <a:cs typeface="Times New Roman"/>
              </a:rPr>
              <a:t>[2] M. Iqbal et al., “Automated Early Prediction of Parkinson’s Disease Using AI Techniques,” 2025.</a:t>
            </a:r>
          </a:p>
          <a:p>
            <a:pPr algn="l">
              <a:lnSpc>
                <a:spcPct val="114999"/>
              </a:lnSpc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l">
              <a:lnSpc>
                <a:spcPct val="114999"/>
              </a:lnSpc>
            </a:pPr>
            <a:r>
              <a:rPr lang="en-US" dirty="0">
                <a:latin typeface="Times New Roman"/>
                <a:cs typeface="Times New Roman"/>
              </a:rPr>
              <a:t>[3] S. Sharma and A. Singh, “Advanced Comparative Analysis of ML Algorithms for Early Parkinson’s Detection,” 2024.</a:t>
            </a:r>
          </a:p>
          <a:p>
            <a:pPr marL="114300" indent="0" algn="l">
              <a:lnSpc>
                <a:spcPct val="114999"/>
              </a:lnSpc>
              <a:buNone/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l">
              <a:lnSpc>
                <a:spcPct val="114999"/>
              </a:lnSpc>
            </a:pPr>
            <a:r>
              <a:rPr lang="en-US" dirty="0">
                <a:latin typeface="Times New Roman"/>
                <a:cs typeface="Times New Roman"/>
              </a:rPr>
              <a:t>[4] Max A. Little, P.E. McSharry, E.J. Hunter, and L.O. Ramig, “Suitability of Dysphonia Measurements for Telemonitoring of Parkinson’s Disease,” 2009.</a:t>
            </a:r>
          </a:p>
          <a:p>
            <a:pPr algn="l">
              <a:lnSpc>
                <a:spcPct val="114999"/>
              </a:lnSpc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l">
              <a:lnSpc>
                <a:spcPct val="114999"/>
              </a:lnSpc>
            </a:pPr>
            <a:r>
              <a:rPr lang="en-US" dirty="0">
                <a:latin typeface="Times New Roman"/>
                <a:cs typeface="Times New Roman"/>
              </a:rPr>
              <a:t>[5] </a:t>
            </a:r>
            <a:r>
              <a:rPr lang="en-US" dirty="0" err="1">
                <a:latin typeface="Times New Roman"/>
                <a:cs typeface="Times New Roman"/>
              </a:rPr>
              <a:t>Figshare</a:t>
            </a:r>
            <a:r>
              <a:rPr lang="en-US" dirty="0">
                <a:latin typeface="Times New Roman"/>
                <a:cs typeface="Times New Roman"/>
              </a:rPr>
              <a:t> Dataset: “Voice Samples for Patients with Parkinson’s Disease and Healthy Controls,” 2024.</a:t>
            </a:r>
          </a:p>
          <a:p>
            <a:pPr algn="l">
              <a:lnSpc>
                <a:spcPct val="114999"/>
              </a:lnSpc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 algn="l">
              <a:lnSpc>
                <a:spcPct val="114999"/>
              </a:lnSpc>
            </a:pPr>
            <a:endParaRPr lang="en-US" dirty="0">
              <a:solidFill>
                <a:schemeClr val="tx1"/>
              </a:solidFill>
              <a:latin typeface="Times New Roman"/>
            </a:endParaRPr>
          </a:p>
          <a:p>
            <a:pPr>
              <a:lnSpc>
                <a:spcPct val="114999"/>
              </a:lnSpc>
              <a:buAutoNum type="arabicPeriod"/>
            </a:pPr>
            <a:endParaRPr lang="en-US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47813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610325" y="2832109"/>
            <a:ext cx="5829300" cy="87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SzPts val="5200"/>
            </a:pPr>
            <a:r>
              <a:rPr lang="en-GB" sz="3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65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Theme1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2930</Words>
  <Application>Microsoft Office PowerPoint</Application>
  <PresentationFormat>On-screen Show (4:3)</PresentationFormat>
  <Paragraphs>374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Times New Roman</vt:lpstr>
      <vt:lpstr>Verdana</vt:lpstr>
      <vt:lpstr>1_Simple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 </vt:lpstr>
      <vt:lpstr>METHODOLOGY</vt:lpstr>
      <vt:lpstr>Data Collection</vt:lpstr>
      <vt:lpstr>Data Pre-Processing</vt:lpstr>
      <vt:lpstr>Feature Extraction and Handling Class Imbalance</vt:lpstr>
      <vt:lpstr>Feature Scaling and Model Training</vt:lpstr>
      <vt:lpstr>PowerPoint Presentation</vt:lpstr>
      <vt:lpstr>Model Validation &amp; Evaluation</vt:lpstr>
      <vt:lpstr>Deployment Pipeline</vt:lpstr>
      <vt:lpstr>IMPLEMENTATION(ALGORITHM)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rishitharasineni@outlook.com</cp:lastModifiedBy>
  <cp:revision>54</cp:revision>
  <cp:lastPrinted>2024-09-27T04:20:50Z</cp:lastPrinted>
  <dcterms:created xsi:type="dcterms:W3CDTF">2023-10-20T09:46:10Z</dcterms:created>
  <dcterms:modified xsi:type="dcterms:W3CDTF">2025-11-21T09:07:49Z</dcterms:modified>
</cp:coreProperties>
</file>